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62" r:id="rId3"/>
    <p:sldId id="257" r:id="rId4"/>
    <p:sldId id="310" r:id="rId5"/>
    <p:sldId id="280" r:id="rId6"/>
    <p:sldId id="283" r:id="rId7"/>
    <p:sldId id="281" r:id="rId8"/>
    <p:sldId id="285" r:id="rId9"/>
    <p:sldId id="282" r:id="rId10"/>
    <p:sldId id="297" r:id="rId11"/>
    <p:sldId id="309" r:id="rId12"/>
    <p:sldId id="319" r:id="rId13"/>
    <p:sldId id="301" r:id="rId14"/>
    <p:sldId id="286" r:id="rId15"/>
    <p:sldId id="288" r:id="rId16"/>
    <p:sldId id="287" r:id="rId17"/>
    <p:sldId id="289" r:id="rId18"/>
    <p:sldId id="290" r:id="rId19"/>
    <p:sldId id="296" r:id="rId20"/>
    <p:sldId id="318" r:id="rId21"/>
    <p:sldId id="313" r:id="rId22"/>
    <p:sldId id="320" r:id="rId23"/>
    <p:sldId id="294" r:id="rId24"/>
    <p:sldId id="321" r:id="rId25"/>
  </p:sldIdLst>
  <p:sldSz cx="9144000" cy="6858000" type="screen4x3"/>
  <p:notesSz cx="6888163" cy="10018713"/>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12987"/>
    <a:srgbClr val="B42989"/>
    <a:srgbClr val="192574"/>
    <a:srgbClr val="B2C23C"/>
    <a:srgbClr val="ACC4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81" autoAdjust="0"/>
    <p:restoredTop sz="94660"/>
  </p:normalViewPr>
  <p:slideViewPr>
    <p:cSldViewPr snapToObjects="1">
      <p:cViewPr varScale="1">
        <p:scale>
          <a:sx n="70" d="100"/>
          <a:sy n="70" d="100"/>
        </p:scale>
        <p:origin x="1819" y="2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5C4F5B-121A-6DB9-8227-AC5358A31248}"/>
              </a:ext>
            </a:extLst>
          </p:cNvPr>
          <p:cNvSpPr>
            <a:spLocks noGrp="1"/>
          </p:cNvSpPr>
          <p:nvPr>
            <p:ph type="hdr" sz="quarter"/>
          </p:nvPr>
        </p:nvSpPr>
        <p:spPr>
          <a:xfrm>
            <a:off x="0" y="0"/>
            <a:ext cx="2986088" cy="500063"/>
          </a:xfrm>
          <a:prstGeom prst="rect">
            <a:avLst/>
          </a:prstGeom>
        </p:spPr>
        <p:txBody>
          <a:bodyPr vert="horz" lIns="93497" tIns="46749" rIns="93497" bIns="46749" rtlCol="0"/>
          <a:lstStyle>
            <a:lvl1pPr algn="l" eaLnBrk="1" hangingPunct="1">
              <a:defRPr sz="1200">
                <a:cs typeface="+mn-cs"/>
              </a:defRPr>
            </a:lvl1pPr>
          </a:lstStyle>
          <a:p>
            <a:pPr>
              <a:defRPr/>
            </a:pPr>
            <a:endParaRPr lang="en-US"/>
          </a:p>
        </p:txBody>
      </p:sp>
      <p:sp>
        <p:nvSpPr>
          <p:cNvPr id="3" name="Date Placeholder 2">
            <a:extLst>
              <a:ext uri="{FF2B5EF4-FFF2-40B4-BE49-F238E27FC236}">
                <a16:creationId xmlns:a16="http://schemas.microsoft.com/office/drawing/2014/main" id="{E8AAA546-0E96-C01F-F26E-BAB07DD5C4A8}"/>
              </a:ext>
            </a:extLst>
          </p:cNvPr>
          <p:cNvSpPr>
            <a:spLocks noGrp="1"/>
          </p:cNvSpPr>
          <p:nvPr>
            <p:ph type="dt" idx="1"/>
          </p:nvPr>
        </p:nvSpPr>
        <p:spPr>
          <a:xfrm>
            <a:off x="3900488" y="0"/>
            <a:ext cx="2986087" cy="500063"/>
          </a:xfrm>
          <a:prstGeom prst="rect">
            <a:avLst/>
          </a:prstGeom>
        </p:spPr>
        <p:txBody>
          <a:bodyPr vert="horz" lIns="93497" tIns="46749" rIns="93497" bIns="46749" rtlCol="0"/>
          <a:lstStyle>
            <a:lvl1pPr algn="r" eaLnBrk="1" hangingPunct="1">
              <a:defRPr sz="1200">
                <a:cs typeface="+mn-cs"/>
              </a:defRPr>
            </a:lvl1pPr>
          </a:lstStyle>
          <a:p>
            <a:pPr>
              <a:defRPr/>
            </a:pPr>
            <a:fld id="{AA8705FA-1345-471E-965A-853BAF4E5615}" type="datetimeFigureOut">
              <a:rPr lang="en-US"/>
              <a:pPr>
                <a:defRPr/>
              </a:pPr>
              <a:t>13-Feb-26</a:t>
            </a:fld>
            <a:endParaRPr lang="en-US"/>
          </a:p>
        </p:txBody>
      </p:sp>
      <p:sp>
        <p:nvSpPr>
          <p:cNvPr id="4" name="Slide Image Placeholder 3">
            <a:extLst>
              <a:ext uri="{FF2B5EF4-FFF2-40B4-BE49-F238E27FC236}">
                <a16:creationId xmlns:a16="http://schemas.microsoft.com/office/drawing/2014/main" id="{BA7033E6-F9AD-770C-5BFB-3C83357EEB5E}"/>
              </a:ext>
            </a:extLst>
          </p:cNvPr>
          <p:cNvSpPr>
            <a:spLocks noGrp="1" noRot="1" noChangeAspect="1"/>
          </p:cNvSpPr>
          <p:nvPr>
            <p:ph type="sldImg" idx="2"/>
          </p:nvPr>
        </p:nvSpPr>
        <p:spPr>
          <a:xfrm>
            <a:off x="941388" y="752475"/>
            <a:ext cx="5006975" cy="3756025"/>
          </a:xfrm>
          <a:prstGeom prst="rect">
            <a:avLst/>
          </a:prstGeom>
          <a:noFill/>
          <a:ln w="12700">
            <a:solidFill>
              <a:prstClr val="black"/>
            </a:solidFill>
          </a:ln>
        </p:spPr>
        <p:txBody>
          <a:bodyPr vert="horz" lIns="93497" tIns="46749" rIns="93497" bIns="46749" rtlCol="0" anchor="ctr"/>
          <a:lstStyle/>
          <a:p>
            <a:pPr lvl="0"/>
            <a:endParaRPr lang="en-US" noProof="0"/>
          </a:p>
        </p:txBody>
      </p:sp>
      <p:sp>
        <p:nvSpPr>
          <p:cNvPr id="5" name="Notes Placeholder 4">
            <a:extLst>
              <a:ext uri="{FF2B5EF4-FFF2-40B4-BE49-F238E27FC236}">
                <a16:creationId xmlns:a16="http://schemas.microsoft.com/office/drawing/2014/main" id="{EC64CC9E-03C9-5ED9-FCB5-4C41701C5622}"/>
              </a:ext>
            </a:extLst>
          </p:cNvPr>
          <p:cNvSpPr>
            <a:spLocks noGrp="1"/>
          </p:cNvSpPr>
          <p:nvPr>
            <p:ph type="body" sz="quarter" idx="3"/>
          </p:nvPr>
        </p:nvSpPr>
        <p:spPr>
          <a:xfrm>
            <a:off x="688975" y="4757738"/>
            <a:ext cx="5510213" cy="4508500"/>
          </a:xfrm>
          <a:prstGeom prst="rect">
            <a:avLst/>
          </a:prstGeom>
        </p:spPr>
        <p:txBody>
          <a:bodyPr vert="horz" lIns="93497" tIns="46749" rIns="93497" bIns="4674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C125189-8503-F552-5933-697CB66E8DB1}"/>
              </a:ext>
            </a:extLst>
          </p:cNvPr>
          <p:cNvSpPr>
            <a:spLocks noGrp="1"/>
          </p:cNvSpPr>
          <p:nvPr>
            <p:ph type="ftr" sz="quarter" idx="4"/>
          </p:nvPr>
        </p:nvSpPr>
        <p:spPr>
          <a:xfrm>
            <a:off x="0" y="9517063"/>
            <a:ext cx="2986088" cy="500062"/>
          </a:xfrm>
          <a:prstGeom prst="rect">
            <a:avLst/>
          </a:prstGeom>
        </p:spPr>
        <p:txBody>
          <a:bodyPr vert="horz" lIns="93497" tIns="46749" rIns="93497" bIns="46749" rtlCol="0" anchor="b"/>
          <a:lstStyle>
            <a:lvl1pPr algn="l" eaLnBrk="1" hangingPunct="1">
              <a:defRPr sz="1200">
                <a:cs typeface="+mn-cs"/>
              </a:defRPr>
            </a:lvl1pPr>
          </a:lstStyle>
          <a:p>
            <a:pPr>
              <a:defRPr/>
            </a:pPr>
            <a:endParaRPr lang="en-US"/>
          </a:p>
        </p:txBody>
      </p:sp>
      <p:sp>
        <p:nvSpPr>
          <p:cNvPr id="7" name="Slide Number Placeholder 6">
            <a:extLst>
              <a:ext uri="{FF2B5EF4-FFF2-40B4-BE49-F238E27FC236}">
                <a16:creationId xmlns:a16="http://schemas.microsoft.com/office/drawing/2014/main" id="{F4921A18-86DB-59C8-18A5-2A7D2AA695C3}"/>
              </a:ext>
            </a:extLst>
          </p:cNvPr>
          <p:cNvSpPr>
            <a:spLocks noGrp="1"/>
          </p:cNvSpPr>
          <p:nvPr>
            <p:ph type="sldNum" sz="quarter" idx="5"/>
          </p:nvPr>
        </p:nvSpPr>
        <p:spPr>
          <a:xfrm>
            <a:off x="3900488" y="9517063"/>
            <a:ext cx="2986087" cy="500062"/>
          </a:xfrm>
          <a:prstGeom prst="rect">
            <a:avLst/>
          </a:prstGeom>
        </p:spPr>
        <p:txBody>
          <a:bodyPr vert="horz" wrap="square" lIns="93497" tIns="46749" rIns="93497" bIns="46749" numCol="1" anchor="b" anchorCtr="0" compatLnSpc="1">
            <a:prstTxWarp prst="textNoShape">
              <a:avLst/>
            </a:prstTxWarp>
          </a:bodyPr>
          <a:lstStyle>
            <a:lvl1pPr algn="r" eaLnBrk="1" hangingPunct="1">
              <a:defRPr sz="1200">
                <a:cs typeface="Arial" panose="020B0604020202020204" pitchFamily="34" charset="0"/>
              </a:defRPr>
            </a:lvl1pPr>
          </a:lstStyle>
          <a:p>
            <a:fld id="{4015F8F1-BA1C-44AD-A500-9695A5A5684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871DE62E-FF95-0FD5-820B-62189219FDE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C939C829-3D5A-F3F5-6A87-AE688B7E48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340" name="Slide Number Placeholder 3">
            <a:extLst>
              <a:ext uri="{FF2B5EF4-FFF2-40B4-BE49-F238E27FC236}">
                <a16:creationId xmlns:a16="http://schemas.microsoft.com/office/drawing/2014/main" id="{B2B48DF5-5A38-5EE8-52D3-8AA08883D18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D11A228-F636-4270-B649-E8D530DB41ED}" type="slidenum">
              <a:rPr lang="en-US" altLang="en-US">
                <a:latin typeface="Arial" panose="020B0604020202020204" pitchFamily="34" charset="0"/>
              </a:rPr>
              <a:pPr>
                <a:spcBef>
                  <a:spcPct val="0"/>
                </a:spcBef>
              </a:pPr>
              <a:t>11</a:t>
            </a:fld>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50D9DB18-F51D-7860-C410-B6D6FDBBAE5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03A3D97C-C2A5-56BD-AEC1-5289A870EC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4580" name="Slide Number Placeholder 3">
            <a:extLst>
              <a:ext uri="{FF2B5EF4-FFF2-40B4-BE49-F238E27FC236}">
                <a16:creationId xmlns:a16="http://schemas.microsoft.com/office/drawing/2014/main" id="{CB10478E-2D02-1739-FA18-784E96022D9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F780B68-A2E3-4473-AF14-63424602EA46}" type="slidenum">
              <a:rPr lang="en-US" altLang="en-US">
                <a:latin typeface="Arial" panose="020B0604020202020204" pitchFamily="34" charset="0"/>
              </a:rPr>
              <a:pPr>
                <a:spcBef>
                  <a:spcPct val="0"/>
                </a:spcBef>
              </a:pPr>
              <a:t>20</a:t>
            </a:fld>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55306110-0C7A-360D-D22C-4ED123090E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49F2DA68-7BE4-A413-2944-255D705DC1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9700" name="Slide Number Placeholder 3">
            <a:extLst>
              <a:ext uri="{FF2B5EF4-FFF2-40B4-BE49-F238E27FC236}">
                <a16:creationId xmlns:a16="http://schemas.microsoft.com/office/drawing/2014/main" id="{0CE1200A-16FA-3C2D-7E30-FFA337C815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5C964B4-6BB9-4B42-9342-C6F91A9ADBE3}" type="slidenum">
              <a:rPr lang="en-US" altLang="en-US">
                <a:latin typeface="Arial" panose="020B0604020202020204" pitchFamily="34" charset="0"/>
              </a:rPr>
              <a:pPr>
                <a:spcBef>
                  <a:spcPct val="0"/>
                </a:spcBef>
              </a:pPr>
              <a:t>24</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E7CBCDC-19DE-E83D-C4C8-BB3596E321C7}"/>
              </a:ext>
            </a:extLst>
          </p:cNvPr>
          <p:cNvSpPr>
            <a:spLocks noGrp="1"/>
          </p:cNvSpPr>
          <p:nvPr>
            <p:ph type="dt" sz="half" idx="10"/>
          </p:nvPr>
        </p:nvSpPr>
        <p:spPr/>
        <p:txBody>
          <a:bodyPr/>
          <a:lstStyle>
            <a:lvl1pPr>
              <a:defRPr/>
            </a:lvl1pPr>
          </a:lstStyle>
          <a:p>
            <a:pPr>
              <a:defRPr/>
            </a:pPr>
            <a:fld id="{918550FA-1BE2-4616-B5D0-E5DF7620328F}" type="datetime1">
              <a:rPr lang="en-US"/>
              <a:pPr>
                <a:defRPr/>
              </a:pPr>
              <a:t>13-Feb-26</a:t>
            </a:fld>
            <a:endParaRPr lang="en-US"/>
          </a:p>
        </p:txBody>
      </p:sp>
      <p:sp>
        <p:nvSpPr>
          <p:cNvPr id="5" name="Footer Placeholder 4">
            <a:extLst>
              <a:ext uri="{FF2B5EF4-FFF2-40B4-BE49-F238E27FC236}">
                <a16:creationId xmlns:a16="http://schemas.microsoft.com/office/drawing/2014/main" id="{D03F569D-710C-2358-0E49-859CC7E7C2E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FD83741-E9CA-32DB-3666-8C984D984648}"/>
              </a:ext>
            </a:extLst>
          </p:cNvPr>
          <p:cNvSpPr>
            <a:spLocks noGrp="1"/>
          </p:cNvSpPr>
          <p:nvPr>
            <p:ph type="sldNum" sz="quarter" idx="12"/>
          </p:nvPr>
        </p:nvSpPr>
        <p:spPr/>
        <p:txBody>
          <a:bodyPr/>
          <a:lstStyle>
            <a:lvl1pPr>
              <a:defRPr/>
            </a:lvl1pPr>
          </a:lstStyle>
          <a:p>
            <a:fld id="{45CDE126-991D-4B47-9706-DB873971A79F}" type="slidenum">
              <a:rPr lang="en-US" altLang="en-US"/>
              <a:pPr/>
              <a:t>‹#›</a:t>
            </a:fld>
            <a:endParaRPr lang="en-US" altLang="en-US"/>
          </a:p>
        </p:txBody>
      </p:sp>
    </p:spTree>
    <p:extLst>
      <p:ext uri="{BB962C8B-B14F-4D97-AF65-F5344CB8AC3E}">
        <p14:creationId xmlns:p14="http://schemas.microsoft.com/office/powerpoint/2010/main" val="2989301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577794-561B-6BA5-0A66-87E2206E8EE4}"/>
              </a:ext>
            </a:extLst>
          </p:cNvPr>
          <p:cNvSpPr>
            <a:spLocks noGrp="1"/>
          </p:cNvSpPr>
          <p:nvPr>
            <p:ph type="dt" sz="half" idx="10"/>
          </p:nvPr>
        </p:nvSpPr>
        <p:spPr/>
        <p:txBody>
          <a:bodyPr/>
          <a:lstStyle>
            <a:lvl1pPr>
              <a:defRPr/>
            </a:lvl1pPr>
          </a:lstStyle>
          <a:p>
            <a:pPr>
              <a:defRPr/>
            </a:pPr>
            <a:fld id="{1A887ACB-C76E-45B7-BE2E-EB4CF5FB713D}" type="datetime1">
              <a:rPr lang="en-US"/>
              <a:pPr>
                <a:defRPr/>
              </a:pPr>
              <a:t>13-Feb-26</a:t>
            </a:fld>
            <a:endParaRPr lang="en-US"/>
          </a:p>
        </p:txBody>
      </p:sp>
      <p:sp>
        <p:nvSpPr>
          <p:cNvPr id="5" name="Footer Placeholder 4">
            <a:extLst>
              <a:ext uri="{FF2B5EF4-FFF2-40B4-BE49-F238E27FC236}">
                <a16:creationId xmlns:a16="http://schemas.microsoft.com/office/drawing/2014/main" id="{7E0D1E1F-C8BB-D9E1-E937-A479D1DC078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3A03266-94E0-DD44-B025-69A6902CA29B}"/>
              </a:ext>
            </a:extLst>
          </p:cNvPr>
          <p:cNvSpPr>
            <a:spLocks noGrp="1"/>
          </p:cNvSpPr>
          <p:nvPr>
            <p:ph type="sldNum" sz="quarter" idx="12"/>
          </p:nvPr>
        </p:nvSpPr>
        <p:spPr/>
        <p:txBody>
          <a:bodyPr/>
          <a:lstStyle>
            <a:lvl1pPr>
              <a:defRPr/>
            </a:lvl1pPr>
          </a:lstStyle>
          <a:p>
            <a:fld id="{80800CDD-3B50-4110-ADDD-1704BA02ED4C}" type="slidenum">
              <a:rPr lang="en-US" altLang="en-US"/>
              <a:pPr/>
              <a:t>‹#›</a:t>
            </a:fld>
            <a:endParaRPr lang="en-US" altLang="en-US"/>
          </a:p>
        </p:txBody>
      </p:sp>
    </p:spTree>
    <p:extLst>
      <p:ext uri="{BB962C8B-B14F-4D97-AF65-F5344CB8AC3E}">
        <p14:creationId xmlns:p14="http://schemas.microsoft.com/office/powerpoint/2010/main" val="668081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A0566D-B35D-5C25-2224-FCCA11743048}"/>
              </a:ext>
            </a:extLst>
          </p:cNvPr>
          <p:cNvSpPr>
            <a:spLocks noGrp="1"/>
          </p:cNvSpPr>
          <p:nvPr>
            <p:ph type="dt" sz="half" idx="10"/>
          </p:nvPr>
        </p:nvSpPr>
        <p:spPr/>
        <p:txBody>
          <a:bodyPr/>
          <a:lstStyle>
            <a:lvl1pPr>
              <a:defRPr/>
            </a:lvl1pPr>
          </a:lstStyle>
          <a:p>
            <a:pPr>
              <a:defRPr/>
            </a:pPr>
            <a:fld id="{A08F6526-E42E-4F12-887C-7F8942B006E1}" type="datetime1">
              <a:rPr lang="en-US"/>
              <a:pPr>
                <a:defRPr/>
              </a:pPr>
              <a:t>13-Feb-26</a:t>
            </a:fld>
            <a:endParaRPr lang="en-US"/>
          </a:p>
        </p:txBody>
      </p:sp>
      <p:sp>
        <p:nvSpPr>
          <p:cNvPr id="5" name="Footer Placeholder 4">
            <a:extLst>
              <a:ext uri="{FF2B5EF4-FFF2-40B4-BE49-F238E27FC236}">
                <a16:creationId xmlns:a16="http://schemas.microsoft.com/office/drawing/2014/main" id="{719D14DC-60B6-6951-8530-F76E36F72A4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65D44B3-3D9F-FD2E-8163-CEA27B8BB585}"/>
              </a:ext>
            </a:extLst>
          </p:cNvPr>
          <p:cNvSpPr>
            <a:spLocks noGrp="1"/>
          </p:cNvSpPr>
          <p:nvPr>
            <p:ph type="sldNum" sz="quarter" idx="12"/>
          </p:nvPr>
        </p:nvSpPr>
        <p:spPr/>
        <p:txBody>
          <a:bodyPr/>
          <a:lstStyle>
            <a:lvl1pPr>
              <a:defRPr/>
            </a:lvl1pPr>
          </a:lstStyle>
          <a:p>
            <a:fld id="{7700BBA8-1574-4755-9EA6-276D4B432879}" type="slidenum">
              <a:rPr lang="en-US" altLang="en-US"/>
              <a:pPr/>
              <a:t>‹#›</a:t>
            </a:fld>
            <a:endParaRPr lang="en-US" altLang="en-US"/>
          </a:p>
        </p:txBody>
      </p:sp>
    </p:spTree>
    <p:extLst>
      <p:ext uri="{BB962C8B-B14F-4D97-AF65-F5344CB8AC3E}">
        <p14:creationId xmlns:p14="http://schemas.microsoft.com/office/powerpoint/2010/main" val="1282628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40D81FD3-ED42-D036-134D-00F3A0009CF5}"/>
              </a:ext>
            </a:extLst>
          </p:cNvPr>
          <p:cNvSpPr>
            <a:spLocks noGrp="1"/>
          </p:cNvSpPr>
          <p:nvPr>
            <p:ph type="dt" sz="half" idx="10"/>
          </p:nvPr>
        </p:nvSpPr>
        <p:spPr/>
        <p:txBody>
          <a:bodyPr/>
          <a:lstStyle>
            <a:lvl1pPr>
              <a:defRPr/>
            </a:lvl1pPr>
          </a:lstStyle>
          <a:p>
            <a:pPr>
              <a:defRPr/>
            </a:pPr>
            <a:fld id="{E5182764-A399-4AEE-A402-8F2AD97E180F}" type="datetime1">
              <a:rPr lang="en-US"/>
              <a:pPr>
                <a:defRPr/>
              </a:pPr>
              <a:t>13-Feb-26</a:t>
            </a:fld>
            <a:endParaRPr lang="en-US"/>
          </a:p>
        </p:txBody>
      </p:sp>
      <p:sp>
        <p:nvSpPr>
          <p:cNvPr id="6" name="Footer Placeholder 4">
            <a:extLst>
              <a:ext uri="{FF2B5EF4-FFF2-40B4-BE49-F238E27FC236}">
                <a16:creationId xmlns:a16="http://schemas.microsoft.com/office/drawing/2014/main" id="{E9DE3069-D640-2A01-1A26-4E177226FFF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DECD77B-1805-AB67-F7E2-E9CAC2568F1F}"/>
              </a:ext>
            </a:extLst>
          </p:cNvPr>
          <p:cNvSpPr>
            <a:spLocks noGrp="1"/>
          </p:cNvSpPr>
          <p:nvPr>
            <p:ph type="sldNum" sz="quarter" idx="12"/>
          </p:nvPr>
        </p:nvSpPr>
        <p:spPr/>
        <p:txBody>
          <a:bodyPr/>
          <a:lstStyle>
            <a:lvl1pPr>
              <a:defRPr/>
            </a:lvl1pPr>
          </a:lstStyle>
          <a:p>
            <a:fld id="{671A6B56-CE61-44AD-A7EF-84F1FCEBF866}" type="slidenum">
              <a:rPr lang="en-US" altLang="en-US"/>
              <a:pPr/>
              <a:t>‹#›</a:t>
            </a:fld>
            <a:endParaRPr lang="en-US" altLang="en-US"/>
          </a:p>
        </p:txBody>
      </p:sp>
    </p:spTree>
    <p:extLst>
      <p:ext uri="{BB962C8B-B14F-4D97-AF65-F5344CB8AC3E}">
        <p14:creationId xmlns:p14="http://schemas.microsoft.com/office/powerpoint/2010/main" val="3281049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6E91F95-5644-CF37-D75A-45CA958CB544}"/>
              </a:ext>
            </a:extLst>
          </p:cNvPr>
          <p:cNvSpPr>
            <a:spLocks noGrp="1"/>
          </p:cNvSpPr>
          <p:nvPr>
            <p:ph type="dt" sz="half" idx="10"/>
          </p:nvPr>
        </p:nvSpPr>
        <p:spPr/>
        <p:txBody>
          <a:bodyPr/>
          <a:lstStyle>
            <a:lvl1pPr>
              <a:defRPr/>
            </a:lvl1pPr>
          </a:lstStyle>
          <a:p>
            <a:pPr>
              <a:defRPr/>
            </a:pPr>
            <a:fld id="{680B8C0A-0AC5-4C65-BC7C-05FD1BCF705E}" type="datetime1">
              <a:rPr lang="en-US"/>
              <a:pPr>
                <a:defRPr/>
              </a:pPr>
              <a:t>13-Feb-26</a:t>
            </a:fld>
            <a:endParaRPr lang="en-US"/>
          </a:p>
        </p:txBody>
      </p:sp>
      <p:sp>
        <p:nvSpPr>
          <p:cNvPr id="8" name="Footer Placeholder 4">
            <a:extLst>
              <a:ext uri="{FF2B5EF4-FFF2-40B4-BE49-F238E27FC236}">
                <a16:creationId xmlns:a16="http://schemas.microsoft.com/office/drawing/2014/main" id="{12F814DA-E586-045D-A667-E6017B898E3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8B9E783A-E435-1CD9-C27B-6D296A91D7F4}"/>
              </a:ext>
            </a:extLst>
          </p:cNvPr>
          <p:cNvSpPr>
            <a:spLocks noGrp="1"/>
          </p:cNvSpPr>
          <p:nvPr>
            <p:ph type="sldNum" sz="quarter" idx="12"/>
          </p:nvPr>
        </p:nvSpPr>
        <p:spPr/>
        <p:txBody>
          <a:bodyPr/>
          <a:lstStyle>
            <a:lvl1pPr>
              <a:defRPr/>
            </a:lvl1pPr>
          </a:lstStyle>
          <a:p>
            <a:fld id="{70C997BA-A4AA-4D84-975C-F231F5605E6A}" type="slidenum">
              <a:rPr lang="en-US" altLang="en-US"/>
              <a:pPr/>
              <a:t>‹#›</a:t>
            </a:fld>
            <a:endParaRPr lang="en-US" altLang="en-US"/>
          </a:p>
        </p:txBody>
      </p:sp>
    </p:spTree>
    <p:extLst>
      <p:ext uri="{BB962C8B-B14F-4D97-AF65-F5344CB8AC3E}">
        <p14:creationId xmlns:p14="http://schemas.microsoft.com/office/powerpoint/2010/main" val="3387304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B70EE90-9A73-E924-F04A-25FABC759D90}"/>
              </a:ext>
            </a:extLst>
          </p:cNvPr>
          <p:cNvSpPr>
            <a:spLocks noGrp="1"/>
          </p:cNvSpPr>
          <p:nvPr>
            <p:ph type="dt" sz="half" idx="10"/>
          </p:nvPr>
        </p:nvSpPr>
        <p:spPr/>
        <p:txBody>
          <a:bodyPr/>
          <a:lstStyle>
            <a:lvl1pPr>
              <a:defRPr/>
            </a:lvl1pPr>
          </a:lstStyle>
          <a:p>
            <a:pPr>
              <a:defRPr/>
            </a:pPr>
            <a:fld id="{BAE9C1F1-AE71-4698-A323-E53D36B87E86}" type="datetime1">
              <a:rPr lang="en-US"/>
              <a:pPr>
                <a:defRPr/>
              </a:pPr>
              <a:t>13-Feb-26</a:t>
            </a:fld>
            <a:endParaRPr lang="en-US"/>
          </a:p>
        </p:txBody>
      </p:sp>
      <p:sp>
        <p:nvSpPr>
          <p:cNvPr id="4" name="Footer Placeholder 4">
            <a:extLst>
              <a:ext uri="{FF2B5EF4-FFF2-40B4-BE49-F238E27FC236}">
                <a16:creationId xmlns:a16="http://schemas.microsoft.com/office/drawing/2014/main" id="{0C056959-1FA1-91B9-FA8B-E3856CD31F1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416E636B-7FAA-22A1-06B0-DA88BEEDB978}"/>
              </a:ext>
            </a:extLst>
          </p:cNvPr>
          <p:cNvSpPr>
            <a:spLocks noGrp="1"/>
          </p:cNvSpPr>
          <p:nvPr>
            <p:ph type="sldNum" sz="quarter" idx="12"/>
          </p:nvPr>
        </p:nvSpPr>
        <p:spPr/>
        <p:txBody>
          <a:bodyPr/>
          <a:lstStyle>
            <a:lvl1pPr>
              <a:defRPr/>
            </a:lvl1pPr>
          </a:lstStyle>
          <a:p>
            <a:fld id="{2BAA5BC5-ED9A-4EBD-83C0-66D84A9A246A}" type="slidenum">
              <a:rPr lang="en-US" altLang="en-US"/>
              <a:pPr/>
              <a:t>‹#›</a:t>
            </a:fld>
            <a:endParaRPr lang="en-US" altLang="en-US"/>
          </a:p>
        </p:txBody>
      </p:sp>
    </p:spTree>
    <p:extLst>
      <p:ext uri="{BB962C8B-B14F-4D97-AF65-F5344CB8AC3E}">
        <p14:creationId xmlns:p14="http://schemas.microsoft.com/office/powerpoint/2010/main" val="2990990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59EA060-F40D-6ABF-8FAB-71FA060D6BC0}"/>
              </a:ext>
            </a:extLst>
          </p:cNvPr>
          <p:cNvSpPr>
            <a:spLocks noGrp="1"/>
          </p:cNvSpPr>
          <p:nvPr>
            <p:ph type="dt" sz="half" idx="10"/>
          </p:nvPr>
        </p:nvSpPr>
        <p:spPr/>
        <p:txBody>
          <a:bodyPr/>
          <a:lstStyle>
            <a:lvl1pPr>
              <a:defRPr/>
            </a:lvl1pPr>
          </a:lstStyle>
          <a:p>
            <a:pPr>
              <a:defRPr/>
            </a:pPr>
            <a:fld id="{33680615-F3F3-47C2-B66E-5969F51FD4DF}" type="datetime1">
              <a:rPr lang="en-US"/>
              <a:pPr>
                <a:defRPr/>
              </a:pPr>
              <a:t>13-Feb-26</a:t>
            </a:fld>
            <a:endParaRPr lang="en-US"/>
          </a:p>
        </p:txBody>
      </p:sp>
      <p:sp>
        <p:nvSpPr>
          <p:cNvPr id="3" name="Footer Placeholder 4">
            <a:extLst>
              <a:ext uri="{FF2B5EF4-FFF2-40B4-BE49-F238E27FC236}">
                <a16:creationId xmlns:a16="http://schemas.microsoft.com/office/drawing/2014/main" id="{E1CB8980-4870-B9F9-7570-AAD7253E641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4B6FC524-BAEF-CE75-91E2-3C494FC784DF}"/>
              </a:ext>
            </a:extLst>
          </p:cNvPr>
          <p:cNvSpPr>
            <a:spLocks noGrp="1"/>
          </p:cNvSpPr>
          <p:nvPr>
            <p:ph type="sldNum" sz="quarter" idx="12"/>
          </p:nvPr>
        </p:nvSpPr>
        <p:spPr/>
        <p:txBody>
          <a:bodyPr/>
          <a:lstStyle>
            <a:lvl1pPr>
              <a:defRPr/>
            </a:lvl1pPr>
          </a:lstStyle>
          <a:p>
            <a:fld id="{8F28D820-841C-4912-8174-27B2E187591B}" type="slidenum">
              <a:rPr lang="en-US" altLang="en-US"/>
              <a:pPr/>
              <a:t>‹#›</a:t>
            </a:fld>
            <a:endParaRPr lang="en-US" altLang="en-US"/>
          </a:p>
        </p:txBody>
      </p:sp>
    </p:spTree>
    <p:extLst>
      <p:ext uri="{BB962C8B-B14F-4D97-AF65-F5344CB8AC3E}">
        <p14:creationId xmlns:p14="http://schemas.microsoft.com/office/powerpoint/2010/main" val="3358877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E521E78-E17D-AA6B-38B4-BE4A632713A4}"/>
              </a:ext>
            </a:extLst>
          </p:cNvPr>
          <p:cNvSpPr>
            <a:spLocks noGrp="1"/>
          </p:cNvSpPr>
          <p:nvPr>
            <p:ph type="dt" sz="half" idx="10"/>
          </p:nvPr>
        </p:nvSpPr>
        <p:spPr/>
        <p:txBody>
          <a:bodyPr/>
          <a:lstStyle>
            <a:lvl1pPr>
              <a:defRPr/>
            </a:lvl1pPr>
          </a:lstStyle>
          <a:p>
            <a:pPr>
              <a:defRPr/>
            </a:pPr>
            <a:fld id="{619F64E2-43E2-4799-BD50-19E3FE47BFC6}" type="datetime1">
              <a:rPr lang="en-US"/>
              <a:pPr>
                <a:defRPr/>
              </a:pPr>
              <a:t>13-Feb-26</a:t>
            </a:fld>
            <a:endParaRPr lang="en-US"/>
          </a:p>
        </p:txBody>
      </p:sp>
      <p:sp>
        <p:nvSpPr>
          <p:cNvPr id="6" name="Footer Placeholder 4">
            <a:extLst>
              <a:ext uri="{FF2B5EF4-FFF2-40B4-BE49-F238E27FC236}">
                <a16:creationId xmlns:a16="http://schemas.microsoft.com/office/drawing/2014/main" id="{AE7D6BC3-60C6-B3FC-2857-7E03DCA7FD2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DBC9417-79C4-869C-DB63-14A9011AF3EE}"/>
              </a:ext>
            </a:extLst>
          </p:cNvPr>
          <p:cNvSpPr>
            <a:spLocks noGrp="1"/>
          </p:cNvSpPr>
          <p:nvPr>
            <p:ph type="sldNum" sz="quarter" idx="12"/>
          </p:nvPr>
        </p:nvSpPr>
        <p:spPr/>
        <p:txBody>
          <a:bodyPr/>
          <a:lstStyle>
            <a:lvl1pPr>
              <a:defRPr/>
            </a:lvl1pPr>
          </a:lstStyle>
          <a:p>
            <a:fld id="{B2B0C872-55E1-45B3-B5F1-54AABABEB24D}" type="slidenum">
              <a:rPr lang="en-US" altLang="en-US"/>
              <a:pPr/>
              <a:t>‹#›</a:t>
            </a:fld>
            <a:endParaRPr lang="en-US" altLang="en-US"/>
          </a:p>
        </p:txBody>
      </p:sp>
    </p:spTree>
    <p:extLst>
      <p:ext uri="{BB962C8B-B14F-4D97-AF65-F5344CB8AC3E}">
        <p14:creationId xmlns:p14="http://schemas.microsoft.com/office/powerpoint/2010/main" val="2340460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80A4ABE0-2BA8-7800-300E-4067E62A58A6}"/>
              </a:ext>
            </a:extLst>
          </p:cNvPr>
          <p:cNvSpPr>
            <a:spLocks noGrp="1"/>
          </p:cNvSpPr>
          <p:nvPr>
            <p:ph type="dt" sz="half" idx="10"/>
          </p:nvPr>
        </p:nvSpPr>
        <p:spPr/>
        <p:txBody>
          <a:bodyPr/>
          <a:lstStyle>
            <a:lvl1pPr>
              <a:defRPr/>
            </a:lvl1pPr>
          </a:lstStyle>
          <a:p>
            <a:pPr>
              <a:defRPr/>
            </a:pPr>
            <a:fld id="{45569B45-F41A-46F5-9496-40150E312176}" type="datetime1">
              <a:rPr lang="en-US"/>
              <a:pPr>
                <a:defRPr/>
              </a:pPr>
              <a:t>13-Feb-26</a:t>
            </a:fld>
            <a:endParaRPr lang="en-US"/>
          </a:p>
        </p:txBody>
      </p:sp>
      <p:sp>
        <p:nvSpPr>
          <p:cNvPr id="6" name="Footer Placeholder 4">
            <a:extLst>
              <a:ext uri="{FF2B5EF4-FFF2-40B4-BE49-F238E27FC236}">
                <a16:creationId xmlns:a16="http://schemas.microsoft.com/office/drawing/2014/main" id="{A890F760-A620-C577-5EEC-436A9D399CD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843CD7D-0305-7A0E-CE59-0E0DA4B976F3}"/>
              </a:ext>
            </a:extLst>
          </p:cNvPr>
          <p:cNvSpPr>
            <a:spLocks noGrp="1"/>
          </p:cNvSpPr>
          <p:nvPr>
            <p:ph type="sldNum" sz="quarter" idx="12"/>
          </p:nvPr>
        </p:nvSpPr>
        <p:spPr/>
        <p:txBody>
          <a:bodyPr/>
          <a:lstStyle>
            <a:lvl1pPr>
              <a:defRPr/>
            </a:lvl1pPr>
          </a:lstStyle>
          <a:p>
            <a:fld id="{0BFCB94C-1E6E-48BC-9191-BA1CE5D0A41C}" type="slidenum">
              <a:rPr lang="en-US" altLang="en-US"/>
              <a:pPr/>
              <a:t>‹#›</a:t>
            </a:fld>
            <a:endParaRPr lang="en-US" altLang="en-US"/>
          </a:p>
        </p:txBody>
      </p:sp>
    </p:spTree>
    <p:extLst>
      <p:ext uri="{BB962C8B-B14F-4D97-AF65-F5344CB8AC3E}">
        <p14:creationId xmlns:p14="http://schemas.microsoft.com/office/powerpoint/2010/main" val="415723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A3AC53-99E7-0CCC-6CCE-39B92FE9CAE9}"/>
              </a:ext>
            </a:extLst>
          </p:cNvPr>
          <p:cNvSpPr>
            <a:spLocks noGrp="1"/>
          </p:cNvSpPr>
          <p:nvPr>
            <p:ph type="dt" sz="half" idx="10"/>
          </p:nvPr>
        </p:nvSpPr>
        <p:spPr/>
        <p:txBody>
          <a:bodyPr/>
          <a:lstStyle>
            <a:lvl1pPr>
              <a:defRPr/>
            </a:lvl1pPr>
          </a:lstStyle>
          <a:p>
            <a:pPr>
              <a:defRPr/>
            </a:pPr>
            <a:fld id="{81544A00-5D10-44A0-8D79-7C8435903DDA}" type="datetime1">
              <a:rPr lang="en-US"/>
              <a:pPr>
                <a:defRPr/>
              </a:pPr>
              <a:t>13-Feb-26</a:t>
            </a:fld>
            <a:endParaRPr lang="en-US"/>
          </a:p>
        </p:txBody>
      </p:sp>
      <p:sp>
        <p:nvSpPr>
          <p:cNvPr id="5" name="Footer Placeholder 4">
            <a:extLst>
              <a:ext uri="{FF2B5EF4-FFF2-40B4-BE49-F238E27FC236}">
                <a16:creationId xmlns:a16="http://schemas.microsoft.com/office/drawing/2014/main" id="{DCE5FA9D-CAAA-DE6F-EE0C-F535B2621C4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F2CC0C7-03C0-8522-BEC8-CB727EDF65AB}"/>
              </a:ext>
            </a:extLst>
          </p:cNvPr>
          <p:cNvSpPr>
            <a:spLocks noGrp="1"/>
          </p:cNvSpPr>
          <p:nvPr>
            <p:ph type="sldNum" sz="quarter" idx="12"/>
          </p:nvPr>
        </p:nvSpPr>
        <p:spPr/>
        <p:txBody>
          <a:bodyPr/>
          <a:lstStyle>
            <a:lvl1pPr>
              <a:defRPr/>
            </a:lvl1pPr>
          </a:lstStyle>
          <a:p>
            <a:fld id="{EB41BA4B-2615-412E-A930-FED016AB4E7B}" type="slidenum">
              <a:rPr lang="en-US" altLang="en-US"/>
              <a:pPr/>
              <a:t>‹#›</a:t>
            </a:fld>
            <a:endParaRPr lang="en-US" altLang="en-US"/>
          </a:p>
        </p:txBody>
      </p:sp>
    </p:spTree>
    <p:extLst>
      <p:ext uri="{BB962C8B-B14F-4D97-AF65-F5344CB8AC3E}">
        <p14:creationId xmlns:p14="http://schemas.microsoft.com/office/powerpoint/2010/main" val="2974781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3D093F-F83C-9005-C15E-7BE7BB7B6366}"/>
              </a:ext>
            </a:extLst>
          </p:cNvPr>
          <p:cNvSpPr>
            <a:spLocks noGrp="1"/>
          </p:cNvSpPr>
          <p:nvPr>
            <p:ph type="dt" sz="half" idx="10"/>
          </p:nvPr>
        </p:nvSpPr>
        <p:spPr/>
        <p:txBody>
          <a:bodyPr/>
          <a:lstStyle>
            <a:lvl1pPr>
              <a:defRPr/>
            </a:lvl1pPr>
          </a:lstStyle>
          <a:p>
            <a:pPr>
              <a:defRPr/>
            </a:pPr>
            <a:fld id="{CF8C13A0-0AA0-417F-96FE-1E68C5E5E887}" type="datetime1">
              <a:rPr lang="en-US"/>
              <a:pPr>
                <a:defRPr/>
              </a:pPr>
              <a:t>13-Feb-26</a:t>
            </a:fld>
            <a:endParaRPr lang="en-US"/>
          </a:p>
        </p:txBody>
      </p:sp>
      <p:sp>
        <p:nvSpPr>
          <p:cNvPr id="5" name="Footer Placeholder 4">
            <a:extLst>
              <a:ext uri="{FF2B5EF4-FFF2-40B4-BE49-F238E27FC236}">
                <a16:creationId xmlns:a16="http://schemas.microsoft.com/office/drawing/2014/main" id="{63810EE4-5685-22BF-17F2-69A1F69FE47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F4ADFC6-2533-65DE-B5FD-DD2B68AA708B}"/>
              </a:ext>
            </a:extLst>
          </p:cNvPr>
          <p:cNvSpPr>
            <a:spLocks noGrp="1"/>
          </p:cNvSpPr>
          <p:nvPr>
            <p:ph type="sldNum" sz="quarter" idx="12"/>
          </p:nvPr>
        </p:nvSpPr>
        <p:spPr/>
        <p:txBody>
          <a:bodyPr/>
          <a:lstStyle>
            <a:lvl1pPr>
              <a:defRPr/>
            </a:lvl1pPr>
          </a:lstStyle>
          <a:p>
            <a:fld id="{16D432BE-DDAC-4F73-9B2B-C312701EE4DB}" type="slidenum">
              <a:rPr lang="en-US" altLang="en-US"/>
              <a:pPr/>
              <a:t>‹#›</a:t>
            </a:fld>
            <a:endParaRPr lang="en-US" altLang="en-US"/>
          </a:p>
        </p:txBody>
      </p:sp>
    </p:spTree>
    <p:extLst>
      <p:ext uri="{BB962C8B-B14F-4D97-AF65-F5344CB8AC3E}">
        <p14:creationId xmlns:p14="http://schemas.microsoft.com/office/powerpoint/2010/main" val="369961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5EC56D2-2E63-6E3C-BC8E-C1B2643AE328}"/>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9A7E882C-B05B-F00C-1925-828AD206B880}"/>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C0278FE-54C5-A747-B0C2-BB638AF1988D}"/>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charset="0"/>
                <a:ea typeface="ＭＳ Ｐゴシック" charset="-128"/>
                <a:cs typeface="+mn-cs"/>
              </a:defRPr>
            </a:lvl1pPr>
          </a:lstStyle>
          <a:p>
            <a:pPr>
              <a:defRPr/>
            </a:pPr>
            <a:fld id="{7FE00BB6-D3DC-46CF-91E0-862F0E17E6FC}" type="datetime1">
              <a:rPr lang="en-US"/>
              <a:pPr>
                <a:defRPr/>
              </a:pPr>
              <a:t>13-Feb-26</a:t>
            </a:fld>
            <a:endParaRPr lang="en-US"/>
          </a:p>
        </p:txBody>
      </p:sp>
      <p:sp>
        <p:nvSpPr>
          <p:cNvPr id="5" name="Footer Placeholder 4">
            <a:extLst>
              <a:ext uri="{FF2B5EF4-FFF2-40B4-BE49-F238E27FC236}">
                <a16:creationId xmlns:a16="http://schemas.microsoft.com/office/drawing/2014/main" id="{BBE59584-2859-C074-81E8-FEAAC444EFE0}"/>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106" charset="0"/>
                <a:ea typeface="ＭＳ Ｐゴシック" pitchFamily="-106" charset="-128"/>
                <a:cs typeface="ＭＳ Ｐゴシック" pitchFamily="-106" charset="-128"/>
              </a:defRPr>
            </a:lvl1pPr>
          </a:lstStyle>
          <a:p>
            <a:pPr>
              <a:defRPr/>
            </a:pPr>
            <a:endParaRPr lang="en-US"/>
          </a:p>
        </p:txBody>
      </p:sp>
      <p:sp>
        <p:nvSpPr>
          <p:cNvPr id="6" name="Slide Number Placeholder 5">
            <a:extLst>
              <a:ext uri="{FF2B5EF4-FFF2-40B4-BE49-F238E27FC236}">
                <a16:creationId xmlns:a16="http://schemas.microsoft.com/office/drawing/2014/main" id="{48F3BD67-E08B-E75D-5217-BDACDB6D16A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cs typeface="Arial" panose="020B0604020202020204" pitchFamily="34" charset="0"/>
              </a:defRPr>
            </a:lvl1pPr>
          </a:lstStyle>
          <a:p>
            <a:fld id="{CC02DF36-EB31-4997-A45C-D5B0E256338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65" charset="-128"/>
          <a:cs typeface="ＭＳ Ｐゴシック" pitchFamily="-65" charset="-128"/>
        </a:defRPr>
      </a:lvl1pPr>
      <a:lvl2pPr algn="ctr" defTabSz="457200" rtl="0" eaLnBrk="0" fontAlgn="base" hangingPunct="0">
        <a:spcBef>
          <a:spcPct val="0"/>
        </a:spcBef>
        <a:spcAft>
          <a:spcPct val="0"/>
        </a:spcAft>
        <a:defRPr sz="4400">
          <a:solidFill>
            <a:schemeClr val="tx1"/>
          </a:solidFill>
          <a:latin typeface="Calibri" pitchFamily="-65" charset="0"/>
          <a:ea typeface="ＭＳ Ｐゴシック" pitchFamily="-65" charset="-128"/>
          <a:cs typeface="ＭＳ Ｐゴシック" pitchFamily="-65" charset="-128"/>
        </a:defRPr>
      </a:lvl2pPr>
      <a:lvl3pPr algn="ctr" defTabSz="457200" rtl="0" eaLnBrk="0" fontAlgn="base" hangingPunct="0">
        <a:spcBef>
          <a:spcPct val="0"/>
        </a:spcBef>
        <a:spcAft>
          <a:spcPct val="0"/>
        </a:spcAft>
        <a:defRPr sz="4400">
          <a:solidFill>
            <a:schemeClr val="tx1"/>
          </a:solidFill>
          <a:latin typeface="Calibri" pitchFamily="-65" charset="0"/>
          <a:ea typeface="ＭＳ Ｐゴシック" pitchFamily="-65" charset="-128"/>
          <a:cs typeface="ＭＳ Ｐゴシック" pitchFamily="-65" charset="-128"/>
        </a:defRPr>
      </a:lvl3pPr>
      <a:lvl4pPr algn="ctr" defTabSz="457200" rtl="0" eaLnBrk="0" fontAlgn="base" hangingPunct="0">
        <a:spcBef>
          <a:spcPct val="0"/>
        </a:spcBef>
        <a:spcAft>
          <a:spcPct val="0"/>
        </a:spcAft>
        <a:defRPr sz="4400">
          <a:solidFill>
            <a:schemeClr val="tx1"/>
          </a:solidFill>
          <a:latin typeface="Calibri" pitchFamily="-65" charset="0"/>
          <a:ea typeface="ＭＳ Ｐゴシック" pitchFamily="-65" charset="-128"/>
          <a:cs typeface="ＭＳ Ｐゴシック" pitchFamily="-65" charset="-128"/>
        </a:defRPr>
      </a:lvl4pPr>
      <a:lvl5pPr algn="ctr" defTabSz="457200" rtl="0" eaLnBrk="0" fontAlgn="base" hangingPunct="0">
        <a:spcBef>
          <a:spcPct val="0"/>
        </a:spcBef>
        <a:spcAft>
          <a:spcPct val="0"/>
        </a:spcAft>
        <a:defRPr sz="4400">
          <a:solidFill>
            <a:schemeClr val="tx1"/>
          </a:solidFill>
          <a:latin typeface="Calibri" pitchFamily="-65" charset="0"/>
          <a:ea typeface="ＭＳ Ｐゴシック" pitchFamily="-65" charset="-128"/>
          <a:cs typeface="ＭＳ Ｐゴシック" pitchFamily="-65" charset="-128"/>
        </a:defRPr>
      </a:lvl5pPr>
      <a:lvl6pPr marL="457200" algn="ctr" defTabSz="457200" rtl="0" fontAlgn="base">
        <a:spcBef>
          <a:spcPct val="0"/>
        </a:spcBef>
        <a:spcAft>
          <a:spcPct val="0"/>
        </a:spcAft>
        <a:defRPr sz="4400">
          <a:solidFill>
            <a:schemeClr val="tx1"/>
          </a:solidFill>
          <a:latin typeface="Calibri" pitchFamily="-65" charset="0"/>
          <a:ea typeface="ＭＳ Ｐゴシック" pitchFamily="-65" charset="-128"/>
          <a:cs typeface="ＭＳ Ｐゴシック" pitchFamily="-65" charset="-128"/>
        </a:defRPr>
      </a:lvl6pPr>
      <a:lvl7pPr marL="914400" algn="ctr" defTabSz="457200" rtl="0" fontAlgn="base">
        <a:spcBef>
          <a:spcPct val="0"/>
        </a:spcBef>
        <a:spcAft>
          <a:spcPct val="0"/>
        </a:spcAft>
        <a:defRPr sz="4400">
          <a:solidFill>
            <a:schemeClr val="tx1"/>
          </a:solidFill>
          <a:latin typeface="Calibri" pitchFamily="-65" charset="0"/>
          <a:ea typeface="ＭＳ Ｐゴシック" pitchFamily="-65" charset="-128"/>
          <a:cs typeface="ＭＳ Ｐゴシック" pitchFamily="-65" charset="-128"/>
        </a:defRPr>
      </a:lvl7pPr>
      <a:lvl8pPr marL="1371600" algn="ctr" defTabSz="457200" rtl="0" fontAlgn="base">
        <a:spcBef>
          <a:spcPct val="0"/>
        </a:spcBef>
        <a:spcAft>
          <a:spcPct val="0"/>
        </a:spcAft>
        <a:defRPr sz="4400">
          <a:solidFill>
            <a:schemeClr val="tx1"/>
          </a:solidFill>
          <a:latin typeface="Calibri" pitchFamily="-65" charset="0"/>
          <a:ea typeface="ＭＳ Ｐゴシック" pitchFamily="-65" charset="-128"/>
          <a:cs typeface="ＭＳ Ｐゴシック" pitchFamily="-65" charset="-128"/>
        </a:defRPr>
      </a:lvl8pPr>
      <a:lvl9pPr marL="1828800" algn="ctr" defTabSz="457200" rtl="0" fontAlgn="base">
        <a:spcBef>
          <a:spcPct val="0"/>
        </a:spcBef>
        <a:spcAft>
          <a:spcPct val="0"/>
        </a:spcAft>
        <a:defRPr sz="4400">
          <a:solidFill>
            <a:schemeClr val="tx1"/>
          </a:solidFill>
          <a:latin typeface="Calibri" pitchFamily="-65" charset="0"/>
          <a:ea typeface="ＭＳ Ｐゴシック" pitchFamily="-65" charset="-128"/>
          <a:cs typeface="ＭＳ Ｐゴシック" pitchFamily="-65"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pitchFamily="-65" charset="-128"/>
          <a:cs typeface="ＭＳ Ｐゴシック" pitchFamily="-65"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pitchFamily="-65"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pitchFamily="-65"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pitchFamily="-65"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pitchFamily="-65"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emf"/><Relationship Id="rId2"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9.jpe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FC0EA8C-CF96-A68A-2B54-992CAB31CD43}"/>
              </a:ext>
            </a:extLst>
          </p:cNvPr>
          <p:cNvSpPr/>
          <p:nvPr/>
        </p:nvSpPr>
        <p:spPr>
          <a:xfrm flipV="1">
            <a:off x="0" y="6477000"/>
            <a:ext cx="9144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grpSp>
        <p:nvGrpSpPr>
          <p:cNvPr id="3075" name="Group 6">
            <a:extLst>
              <a:ext uri="{FF2B5EF4-FFF2-40B4-BE49-F238E27FC236}">
                <a16:creationId xmlns:a16="http://schemas.microsoft.com/office/drawing/2014/main" id="{60D007BA-AD46-FFCF-1E5F-DC3D540B451A}"/>
              </a:ext>
            </a:extLst>
          </p:cNvPr>
          <p:cNvGrpSpPr>
            <a:grpSpLocks/>
          </p:cNvGrpSpPr>
          <p:nvPr/>
        </p:nvGrpSpPr>
        <p:grpSpPr bwMode="auto">
          <a:xfrm>
            <a:off x="0" y="3789363"/>
            <a:ext cx="9142413" cy="2209800"/>
            <a:chOff x="1" y="4193286"/>
            <a:chExt cx="9142855" cy="2209800"/>
          </a:xfrm>
        </p:grpSpPr>
        <p:pic>
          <p:nvPicPr>
            <p:cNvPr id="3081" name="Picture 3" descr="Gavel 02.jpg">
              <a:extLst>
                <a:ext uri="{FF2B5EF4-FFF2-40B4-BE49-F238E27FC236}">
                  <a16:creationId xmlns:a16="http://schemas.microsoft.com/office/drawing/2014/main" id="{E559603C-D7EF-129E-0FAC-C39C1C85ADCC}"/>
                </a:ext>
              </a:extLst>
            </p:cNvPr>
            <p:cNvPicPr>
              <a:picLocks noChangeAspect="1"/>
            </p:cNvPicPr>
            <p:nvPr/>
          </p:nvPicPr>
          <p:blipFill>
            <a:blip r:embed="rId2">
              <a:extLst>
                <a:ext uri="{28A0092B-C50C-407E-A947-70E740481C1C}">
                  <a14:useLocalDpi xmlns:a14="http://schemas.microsoft.com/office/drawing/2010/main" val="0"/>
                </a:ext>
              </a:extLst>
            </a:blip>
            <a:srcRect b="3236"/>
            <a:stretch>
              <a:fillRect/>
            </a:stretch>
          </p:blipFill>
          <p:spPr bwMode="auto">
            <a:xfrm>
              <a:off x="1" y="4193286"/>
              <a:ext cx="34290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2" name="Picture 4" descr="tetrrf-00017985-001.jpg">
              <a:extLst>
                <a:ext uri="{FF2B5EF4-FFF2-40B4-BE49-F238E27FC236}">
                  <a16:creationId xmlns:a16="http://schemas.microsoft.com/office/drawing/2014/main" id="{AE0531F7-895A-B080-D00D-FFCDBC675D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4193286"/>
              <a:ext cx="3197973"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3" name="Picture 5" descr="20335618.jpg">
              <a:extLst>
                <a:ext uri="{FF2B5EF4-FFF2-40B4-BE49-F238E27FC236}">
                  <a16:creationId xmlns:a16="http://schemas.microsoft.com/office/drawing/2014/main" id="{3F4B724F-3132-2E7C-254A-DF42460CD47C}"/>
                </a:ext>
              </a:extLst>
            </p:cNvPr>
            <p:cNvPicPr>
              <a:picLocks noChangeAspect="1"/>
            </p:cNvPicPr>
            <p:nvPr/>
          </p:nvPicPr>
          <p:blipFill>
            <a:blip r:embed="rId4">
              <a:extLst>
                <a:ext uri="{28A0092B-C50C-407E-A947-70E740481C1C}">
                  <a14:useLocalDpi xmlns:a14="http://schemas.microsoft.com/office/drawing/2010/main" val="0"/>
                </a:ext>
              </a:extLst>
            </a:blip>
            <a:srcRect b="11108"/>
            <a:stretch>
              <a:fillRect/>
            </a:stretch>
          </p:blipFill>
          <p:spPr bwMode="auto">
            <a:xfrm>
              <a:off x="5410200" y="4193286"/>
              <a:ext cx="3732656"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 name="Rectangle 16">
            <a:extLst>
              <a:ext uri="{FF2B5EF4-FFF2-40B4-BE49-F238E27FC236}">
                <a16:creationId xmlns:a16="http://schemas.microsoft.com/office/drawing/2014/main" id="{128DFB77-B9EB-4EEA-0883-4C3B82FD7403}"/>
              </a:ext>
            </a:extLst>
          </p:cNvPr>
          <p:cNvSpPr/>
          <p:nvPr/>
        </p:nvSpPr>
        <p:spPr>
          <a:xfrm>
            <a:off x="0" y="3524250"/>
            <a:ext cx="9142413" cy="46038"/>
          </a:xfrm>
          <a:prstGeom prst="rect">
            <a:avLst/>
          </a:prstGeom>
          <a:solidFill>
            <a:srgbClr val="B42989"/>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sp>
        <p:nvSpPr>
          <p:cNvPr id="3077" name="Rectangle 1">
            <a:extLst>
              <a:ext uri="{FF2B5EF4-FFF2-40B4-BE49-F238E27FC236}">
                <a16:creationId xmlns:a16="http://schemas.microsoft.com/office/drawing/2014/main" id="{BD321057-B31F-E393-384D-02E082E98294}"/>
              </a:ext>
            </a:extLst>
          </p:cNvPr>
          <p:cNvSpPr>
            <a:spLocks noChangeArrowheads="1"/>
          </p:cNvSpPr>
          <p:nvPr/>
        </p:nvSpPr>
        <p:spPr bwMode="auto">
          <a:xfrm>
            <a:off x="2970213" y="3228975"/>
            <a:ext cx="1841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US" altLang="en-US" sz="2000">
              <a:solidFill>
                <a:srgbClr val="C00000"/>
              </a:solidFill>
              <a:latin typeface="Trebuchet MS" panose="020B0603020202020204" pitchFamily="34" charset="0"/>
              <a:cs typeface="Arial" panose="020B0604020202020204" pitchFamily="34" charset="0"/>
            </a:endParaRPr>
          </a:p>
          <a:p>
            <a:pPr eaLnBrk="1" hangingPunct="1">
              <a:spcBef>
                <a:spcPct val="0"/>
              </a:spcBef>
              <a:buFontTx/>
              <a:buNone/>
            </a:pPr>
            <a:endParaRPr lang="en-US" altLang="en-US" sz="2000">
              <a:solidFill>
                <a:srgbClr val="C00000"/>
              </a:solidFill>
              <a:latin typeface="Trebuchet MS" panose="020B0603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84F3E8DB-799E-B1EC-00CF-579914D7836B}"/>
              </a:ext>
            </a:extLst>
          </p:cNvPr>
          <p:cNvSpPr/>
          <p:nvPr/>
        </p:nvSpPr>
        <p:spPr>
          <a:xfrm>
            <a:off x="3154363" y="6500813"/>
            <a:ext cx="2536825" cy="338137"/>
          </a:xfrm>
          <a:prstGeom prst="rect">
            <a:avLst/>
          </a:prstGeom>
        </p:spPr>
        <p:txBody>
          <a:bodyPr wrap="none">
            <a:spAutoFit/>
          </a:bodyPr>
          <a:lstStyle/>
          <a:p>
            <a:pPr eaLnBrk="1" hangingPunct="1">
              <a:defRPr/>
            </a:pPr>
            <a:r>
              <a:rPr lang="en-US" sz="1600" dirty="0">
                <a:latin typeface="Trebuchet MS" pitchFamily="34" charset="0"/>
              </a:rPr>
              <a:t>O</a:t>
            </a:r>
            <a:r>
              <a:rPr lang="en-US" sz="1400" dirty="0">
                <a:latin typeface="Trebuchet MS" pitchFamily="34" charset="0"/>
              </a:rPr>
              <a:t>ur Practice</a:t>
            </a:r>
            <a:r>
              <a:rPr lang="en-US" sz="1400" dirty="0">
                <a:solidFill>
                  <a:schemeClr val="bg1">
                    <a:lumMod val="50000"/>
                  </a:schemeClr>
                </a:solidFill>
                <a:latin typeface="Trebuchet MS" pitchFamily="34" charset="0"/>
              </a:rPr>
              <a:t>,</a:t>
            </a:r>
            <a:r>
              <a:rPr lang="en-US" sz="1400" dirty="0">
                <a:latin typeface="Trebuchet MS" pitchFamily="34" charset="0"/>
              </a:rPr>
              <a:t> </a:t>
            </a:r>
            <a:r>
              <a:rPr lang="en-US" sz="1400" dirty="0">
                <a:solidFill>
                  <a:srgbClr val="00B0F0"/>
                </a:solidFill>
                <a:latin typeface="Trebuchet MS" pitchFamily="34" charset="0"/>
              </a:rPr>
              <a:t>is your solution</a:t>
            </a:r>
            <a:endParaRPr lang="en-US" sz="1400" dirty="0">
              <a:solidFill>
                <a:srgbClr val="00B0F0"/>
              </a:solidFill>
            </a:endParaRPr>
          </a:p>
        </p:txBody>
      </p:sp>
      <p:sp>
        <p:nvSpPr>
          <p:cNvPr id="3079" name="Rectangle 12">
            <a:extLst>
              <a:ext uri="{FF2B5EF4-FFF2-40B4-BE49-F238E27FC236}">
                <a16:creationId xmlns:a16="http://schemas.microsoft.com/office/drawing/2014/main" id="{95A92AF7-4893-82BF-8973-3636A7A888AD}"/>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graphicFrame>
        <p:nvGraphicFramePr>
          <p:cNvPr id="3080" name="Object 3">
            <a:extLst>
              <a:ext uri="{FF2B5EF4-FFF2-40B4-BE49-F238E27FC236}">
                <a16:creationId xmlns:a16="http://schemas.microsoft.com/office/drawing/2014/main" id="{EB94F7B4-BA8D-2207-983D-A60D3A3F612A}"/>
              </a:ext>
            </a:extLst>
          </p:cNvPr>
          <p:cNvGraphicFramePr>
            <a:graphicFrameLocks noChangeAspect="1"/>
          </p:cNvGraphicFramePr>
          <p:nvPr/>
        </p:nvGraphicFramePr>
        <p:xfrm>
          <a:off x="3143250" y="115888"/>
          <a:ext cx="3805238" cy="3313112"/>
        </p:xfrm>
        <a:graphic>
          <a:graphicData uri="http://schemas.openxmlformats.org/presentationml/2006/ole">
            <mc:AlternateContent xmlns:mc="http://schemas.openxmlformats.org/markup-compatibility/2006">
              <mc:Choice xmlns:v="urn:schemas-microsoft-com:vml" Requires="v">
                <p:oleObj name="Acrobat Document" r:id="rId5" imgW="10695600" imgH="7558200" progId="AcroExch.Document.11">
                  <p:embed/>
                </p:oleObj>
              </mc:Choice>
              <mc:Fallback>
                <p:oleObj name="Acrobat Document" r:id="rId5" imgW="10695600" imgH="7558200" progId="AcroExch.Document.11">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250" y="115888"/>
                        <a:ext cx="3805238"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Box 2">
            <a:extLst>
              <a:ext uri="{FF2B5EF4-FFF2-40B4-BE49-F238E27FC236}">
                <a16:creationId xmlns:a16="http://schemas.microsoft.com/office/drawing/2014/main" id="{2B9BB583-9E08-0EB2-907D-107C5A572F5C}"/>
              </a:ext>
            </a:extLst>
          </p:cNvPr>
          <p:cNvSpPr txBox="1">
            <a:spLocks noChangeArrowheads="1"/>
          </p:cNvSpPr>
          <p:nvPr/>
        </p:nvSpPr>
        <p:spPr bwMode="auto">
          <a:xfrm>
            <a:off x="1470025" y="3725863"/>
            <a:ext cx="60960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4400">
                <a:solidFill>
                  <a:srgbClr val="00B0F0"/>
                </a:solidFill>
                <a:latin typeface="Trebuchet MS" panose="020B0603020202020204" pitchFamily="34" charset="0"/>
                <a:cs typeface="Arial" panose="020B0604020202020204" pitchFamily="34" charset="0"/>
              </a:rPr>
              <a:t>About Us</a:t>
            </a:r>
            <a:endParaRPr lang="en-US" altLang="en-US" sz="1400">
              <a:solidFill>
                <a:srgbClr val="00B0F0"/>
              </a:solidFill>
              <a:latin typeface="Trebuchet MS" panose="020B0603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7F1DECD2-D011-CEA8-8D01-574A18A16A2C}"/>
              </a:ext>
            </a:extLst>
          </p:cNvPr>
          <p:cNvSpPr/>
          <p:nvPr/>
        </p:nvSpPr>
        <p:spPr>
          <a:xfrm flipV="1">
            <a:off x="2409825" y="3662363"/>
            <a:ext cx="4900613" cy="46037"/>
          </a:xfrm>
          <a:prstGeom prst="rect">
            <a:avLst/>
          </a:prstGeom>
          <a:solidFill>
            <a:srgbClr val="B42989"/>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sp>
        <p:nvSpPr>
          <p:cNvPr id="2" name="Rectangle 1">
            <a:extLst>
              <a:ext uri="{FF2B5EF4-FFF2-40B4-BE49-F238E27FC236}">
                <a16:creationId xmlns:a16="http://schemas.microsoft.com/office/drawing/2014/main" id="{C499B143-C252-858F-85B0-E13E02D890AF}"/>
              </a:ext>
            </a:extLst>
          </p:cNvPr>
          <p:cNvSpPr/>
          <p:nvPr/>
        </p:nvSpPr>
        <p:spPr>
          <a:xfrm>
            <a:off x="3203575" y="6313488"/>
            <a:ext cx="3313113" cy="338137"/>
          </a:xfrm>
          <a:prstGeom prst="rect">
            <a:avLst/>
          </a:prstGeom>
          <a:solidFill>
            <a:schemeClr val="bg1"/>
          </a:solidFill>
        </p:spPr>
        <p:txBody>
          <a:bodyPr>
            <a:spAutoFit/>
          </a:bodyPr>
          <a:lstStyle/>
          <a:p>
            <a:pPr eaLnBrk="1" hangingPunct="1">
              <a:defRPr/>
            </a:pPr>
            <a:r>
              <a:rPr lang="en-US" sz="1600" dirty="0">
                <a:latin typeface="Trebuchet MS" pitchFamily="34" charset="0"/>
              </a:rPr>
              <a:t>O</a:t>
            </a:r>
            <a:r>
              <a:rPr lang="en-US" sz="1400" dirty="0">
                <a:latin typeface="Trebuchet MS" pitchFamily="34" charset="0"/>
              </a:rPr>
              <a:t>ur Practice</a:t>
            </a:r>
            <a:r>
              <a:rPr lang="en-US" sz="1400" dirty="0">
                <a:solidFill>
                  <a:schemeClr val="bg1">
                    <a:lumMod val="50000"/>
                  </a:schemeClr>
                </a:solidFill>
                <a:latin typeface="Trebuchet MS" pitchFamily="34" charset="0"/>
              </a:rPr>
              <a:t>,</a:t>
            </a:r>
            <a:r>
              <a:rPr lang="en-US" sz="1400" dirty="0">
                <a:solidFill>
                  <a:srgbClr val="00B0F0"/>
                </a:solidFill>
                <a:latin typeface="Trebuchet MS" pitchFamily="34" charset="0"/>
              </a:rPr>
              <a:t> is your solution</a:t>
            </a:r>
            <a:endParaRPr lang="en-US" sz="1400" dirty="0">
              <a:solidFill>
                <a:srgbClr val="00B0F0"/>
              </a:solidFill>
            </a:endParaRPr>
          </a:p>
        </p:txBody>
      </p:sp>
      <p:graphicFrame>
        <p:nvGraphicFramePr>
          <p:cNvPr id="4101" name="Object 2">
            <a:extLst>
              <a:ext uri="{FF2B5EF4-FFF2-40B4-BE49-F238E27FC236}">
                <a16:creationId xmlns:a16="http://schemas.microsoft.com/office/drawing/2014/main" id="{7C67CC7A-8B0D-5C86-5337-EFF089E78477}"/>
              </a:ext>
            </a:extLst>
          </p:cNvPr>
          <p:cNvGraphicFramePr>
            <a:graphicFrameLocks noChangeAspect="1"/>
          </p:cNvGraphicFramePr>
          <p:nvPr/>
        </p:nvGraphicFramePr>
        <p:xfrm>
          <a:off x="2916238" y="0"/>
          <a:ext cx="4035425" cy="3357563"/>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0"/>
                        <a:ext cx="4035425"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7">
            <a:extLst>
              <a:ext uri="{FF2B5EF4-FFF2-40B4-BE49-F238E27FC236}">
                <a16:creationId xmlns:a16="http://schemas.microsoft.com/office/drawing/2014/main" id="{75C835D3-A15E-CB98-BB8F-18EBC1A7B183}"/>
              </a:ext>
            </a:extLst>
          </p:cNvPr>
          <p:cNvSpPr/>
          <p:nvPr/>
        </p:nvSpPr>
        <p:spPr>
          <a:xfrm flipV="1">
            <a:off x="2403475" y="4451350"/>
            <a:ext cx="4897438" cy="46038"/>
          </a:xfrm>
          <a:prstGeom prst="rect">
            <a:avLst/>
          </a:prstGeom>
          <a:solidFill>
            <a:srgbClr val="B42989"/>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43727779-FB40-81AC-098E-1A03748501DD}"/>
              </a:ext>
            </a:extLst>
          </p:cNvPr>
          <p:cNvSpPr txBox="1">
            <a:spLocks/>
          </p:cNvSpPr>
          <p:nvPr/>
        </p:nvSpPr>
        <p:spPr bwMode="auto">
          <a:xfrm>
            <a:off x="533400" y="304800"/>
            <a:ext cx="6985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a:solidFill>
                  <a:srgbClr val="0070C0"/>
                </a:solidFill>
                <a:latin typeface="Trebuchet MS" panose="020B0603020202020204" pitchFamily="34" charset="0"/>
                <a:cs typeface="Arial" panose="020B0604020202020204" pitchFamily="34" charset="0"/>
              </a:rPr>
              <a:t> </a:t>
            </a:r>
          </a:p>
        </p:txBody>
      </p:sp>
      <p:sp>
        <p:nvSpPr>
          <p:cNvPr id="5123" name="Content Placeholder 2">
            <a:extLst>
              <a:ext uri="{FF2B5EF4-FFF2-40B4-BE49-F238E27FC236}">
                <a16:creationId xmlns:a16="http://schemas.microsoft.com/office/drawing/2014/main" id="{4C52AB3A-F70D-47F4-39C2-1212DEB68F6A}"/>
              </a:ext>
            </a:extLst>
          </p:cNvPr>
          <p:cNvSpPr txBox="1">
            <a:spLocks/>
          </p:cNvSpPr>
          <p:nvPr/>
        </p:nvSpPr>
        <p:spPr bwMode="auto">
          <a:xfrm>
            <a:off x="509588" y="2060575"/>
            <a:ext cx="7924800"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just" eaLnBrk="1" hangingPunct="1">
              <a:lnSpc>
                <a:spcPct val="150000"/>
              </a:lnSpc>
              <a:spcBef>
                <a:spcPct val="0"/>
              </a:spcBef>
              <a:spcAft>
                <a:spcPts val="4200"/>
              </a:spcAft>
              <a:buFontTx/>
              <a:buNone/>
            </a:pPr>
            <a:r>
              <a:rPr lang="en-GB" altLang="en-US" sz="2000">
                <a:solidFill>
                  <a:srgbClr val="0070C0"/>
                </a:solidFill>
                <a:latin typeface="Trebuchet MS" panose="020B0603020202020204" pitchFamily="34" charset="0"/>
                <a:cs typeface="Arial" panose="020B0604020202020204" pitchFamily="34" charset="0"/>
              </a:rPr>
              <a:t>Who we are</a:t>
            </a:r>
          </a:p>
          <a:p>
            <a:pPr algn="just" eaLnBrk="1" hangingPunct="1">
              <a:lnSpc>
                <a:spcPct val="150000"/>
              </a:lnSpc>
              <a:spcBef>
                <a:spcPct val="0"/>
              </a:spcBef>
              <a:spcAft>
                <a:spcPts val="4200"/>
              </a:spcAft>
              <a:buFontTx/>
              <a:buNone/>
            </a:pPr>
            <a:r>
              <a:rPr lang="en-GB" altLang="en-US" sz="1800">
                <a:solidFill>
                  <a:srgbClr val="0070C0"/>
                </a:solidFill>
                <a:latin typeface="Trebuchet MS" panose="020B0603020202020204" pitchFamily="34" charset="0"/>
                <a:cs typeface="Arial" panose="020B0604020202020204" pitchFamily="34" charset="0"/>
              </a:rPr>
              <a:t>C.N. KARANJA &amp; ASSOCIATES ADVOCATES </a:t>
            </a:r>
            <a:r>
              <a:rPr lang="en-GB" altLang="en-US" sz="1400">
                <a:latin typeface="Trebuchet MS" panose="020B0603020202020204" pitchFamily="34" charset="0"/>
                <a:cs typeface="Arial" panose="020B0604020202020204" pitchFamily="34" charset="0"/>
              </a:rPr>
              <a:t>is an established law firm undertaking legal work for our clients with utmost professionalism, due care, integrity and in a value optimizing way. Legal advice is the application of abstract principles of law to concrete facts of the client’s case in order to advise the client about what to do next. Thus, since inception the management has spent considerable time and resources setting up systems, procedures and the adoption of strategies aimed at enhancing legal service to our clients under the written Laws and the specified provisions thereof. We endeavour to ensure that you get justice and solve your legal matters. Indeed, every client of C.N. Karanja &amp; Associates Advocates is handled with ultimate care and respect.</a:t>
            </a:r>
            <a:endParaRPr lang="en-US" altLang="en-US" sz="1400">
              <a:latin typeface="Trebuchet MS" panose="020B0603020202020204" pitchFamily="34" charset="0"/>
              <a:cs typeface="Arial" panose="020B0604020202020204" pitchFamily="34" charset="0"/>
            </a:endParaRPr>
          </a:p>
          <a:p>
            <a:pPr algn="just" eaLnBrk="1" hangingPunct="1">
              <a:lnSpc>
                <a:spcPct val="150000"/>
              </a:lnSpc>
              <a:spcBef>
                <a:spcPct val="0"/>
              </a:spcBef>
              <a:spcAft>
                <a:spcPts val="4200"/>
              </a:spcAft>
              <a:buFontTx/>
              <a:buNone/>
            </a:pPr>
            <a:endParaRPr lang="en-US" altLang="en-US" sz="2000">
              <a:latin typeface="Trebuchet MS" panose="020B0603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18987AF6-98A0-94E5-CD3C-1936F75FF065}"/>
              </a:ext>
            </a:extLst>
          </p:cNvPr>
          <p:cNvSpPr/>
          <p:nvPr/>
        </p:nvSpPr>
        <p:spPr>
          <a:xfrm>
            <a:off x="0" y="2038350"/>
            <a:ext cx="9077325" cy="46038"/>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5125" name="Object 1">
            <a:extLst>
              <a:ext uri="{FF2B5EF4-FFF2-40B4-BE49-F238E27FC236}">
                <a16:creationId xmlns:a16="http://schemas.microsoft.com/office/drawing/2014/main" id="{1428B0C7-EED5-0CE5-3867-B94605C226AE}"/>
              </a:ext>
            </a:extLst>
          </p:cNvPr>
          <p:cNvGraphicFramePr>
            <a:graphicFrameLocks noChangeAspect="1"/>
          </p:cNvGraphicFramePr>
          <p:nvPr/>
        </p:nvGraphicFramePr>
        <p:xfrm>
          <a:off x="6402388" y="115888"/>
          <a:ext cx="2232025" cy="1922462"/>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2388" y="115888"/>
                        <a:ext cx="2232025" cy="192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05A5218-9079-7EF6-2433-24E9F89F7075}"/>
              </a:ext>
            </a:extLst>
          </p:cNvPr>
          <p:cNvSpPr txBox="1">
            <a:spLocks/>
          </p:cNvSpPr>
          <p:nvPr/>
        </p:nvSpPr>
        <p:spPr bwMode="auto">
          <a:xfrm>
            <a:off x="107950" y="2133600"/>
            <a:ext cx="6985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GB" altLang="en-US" sz="2800">
                <a:solidFill>
                  <a:srgbClr val="0070C0"/>
                </a:solidFill>
                <a:latin typeface="Trebuchet MS" panose="020B0603020202020204" pitchFamily="34" charset="0"/>
                <a:cs typeface="Arial" panose="020B0604020202020204" pitchFamily="34" charset="0"/>
              </a:rPr>
              <a:t>Professional Memberships</a:t>
            </a:r>
          </a:p>
        </p:txBody>
      </p:sp>
      <p:sp>
        <p:nvSpPr>
          <p:cNvPr id="6147" name="Content Placeholder 2">
            <a:extLst>
              <a:ext uri="{FF2B5EF4-FFF2-40B4-BE49-F238E27FC236}">
                <a16:creationId xmlns:a16="http://schemas.microsoft.com/office/drawing/2014/main" id="{9EA73065-7E93-3294-68A8-4F447C134801}"/>
              </a:ext>
            </a:extLst>
          </p:cNvPr>
          <p:cNvSpPr txBox="1">
            <a:spLocks/>
          </p:cNvSpPr>
          <p:nvPr/>
        </p:nvSpPr>
        <p:spPr bwMode="auto">
          <a:xfrm>
            <a:off x="703263" y="2205038"/>
            <a:ext cx="79248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150000"/>
              </a:lnSpc>
              <a:spcBef>
                <a:spcPct val="0"/>
              </a:spcBef>
              <a:spcAft>
                <a:spcPts val="4200"/>
              </a:spcAft>
              <a:buFontTx/>
              <a:buNone/>
            </a:pPr>
            <a:endParaRPr lang="en-US" altLang="en-US" sz="2000">
              <a:latin typeface="Trebuchet MS" panose="020B0603020202020204" pitchFamily="34" charset="0"/>
              <a:cs typeface="Arial" panose="020B0604020202020204" pitchFamily="34" charset="0"/>
            </a:endParaRPr>
          </a:p>
        </p:txBody>
      </p:sp>
      <p:pic>
        <p:nvPicPr>
          <p:cNvPr id="6148" name="Picture 11" descr="http://3mice.com/logo/icpsk.jpg">
            <a:extLst>
              <a:ext uri="{FF2B5EF4-FFF2-40B4-BE49-F238E27FC236}">
                <a16:creationId xmlns:a16="http://schemas.microsoft.com/office/drawing/2014/main" id="{D92FEA95-A3EC-84A4-0884-6CCC0DEFF1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3121025"/>
            <a:ext cx="2928938"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ctl00_HeaderImage" descr="Site Title">
            <a:extLst>
              <a:ext uri="{FF2B5EF4-FFF2-40B4-BE49-F238E27FC236}">
                <a16:creationId xmlns:a16="http://schemas.microsoft.com/office/drawing/2014/main" id="{83481F3E-56E7-8A5D-D4DC-1758D3B2DB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040" r="90154"/>
          <a:stretch>
            <a:fillRect/>
          </a:stretch>
        </p:blipFill>
        <p:spPr bwMode="auto">
          <a:xfrm>
            <a:off x="7242175" y="2660650"/>
            <a:ext cx="1331913"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6150" name="TextBox 7">
            <a:extLst>
              <a:ext uri="{FF2B5EF4-FFF2-40B4-BE49-F238E27FC236}">
                <a16:creationId xmlns:a16="http://schemas.microsoft.com/office/drawing/2014/main" id="{6B894AA6-E238-72E8-7544-0FA58D2E302F}"/>
              </a:ext>
            </a:extLst>
          </p:cNvPr>
          <p:cNvSpPr txBox="1">
            <a:spLocks noChangeArrowheads="1"/>
          </p:cNvSpPr>
          <p:nvPr/>
        </p:nvSpPr>
        <p:spPr bwMode="auto">
          <a:xfrm>
            <a:off x="2262188" y="4900613"/>
            <a:ext cx="2403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Law Society of Kenya</a:t>
            </a:r>
          </a:p>
        </p:txBody>
      </p:sp>
      <p:pic>
        <p:nvPicPr>
          <p:cNvPr id="6151" name="Picture 9" descr="http://profile.ak.fbcdn.net/hprofile-ak-snc4/23281_122473797783700_8909_q.jpg">
            <a:extLst>
              <a:ext uri="{FF2B5EF4-FFF2-40B4-BE49-F238E27FC236}">
                <a16:creationId xmlns:a16="http://schemas.microsoft.com/office/drawing/2014/main" id="{A86AA678-2855-9510-BF4A-A0F6296B1A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438" y="4953000"/>
            <a:ext cx="104775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2" name="Picture 11" descr="http://upload.wikimedia.org/wikipedia/en/a/ab/East_Africa_Law_Society_logo.jpg">
            <a:extLst>
              <a:ext uri="{FF2B5EF4-FFF2-40B4-BE49-F238E27FC236}">
                <a16:creationId xmlns:a16="http://schemas.microsoft.com/office/drawing/2014/main" id="{1B72FA34-A7CE-52EB-AA78-968247B8EF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2713" y="4214813"/>
            <a:ext cx="2111375" cy="137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AEF69BB4-B8D3-2327-06FB-2C221C87DA9A}"/>
              </a:ext>
            </a:extLst>
          </p:cNvPr>
          <p:cNvSpPr/>
          <p:nvPr/>
        </p:nvSpPr>
        <p:spPr>
          <a:xfrm>
            <a:off x="0" y="2133600"/>
            <a:ext cx="9142413" cy="46038"/>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6154" name="Object 1">
            <a:extLst>
              <a:ext uri="{FF2B5EF4-FFF2-40B4-BE49-F238E27FC236}">
                <a16:creationId xmlns:a16="http://schemas.microsoft.com/office/drawing/2014/main" id="{3F0007F8-D5B9-A25F-3A03-7F7BEA8F6E31}"/>
              </a:ext>
            </a:extLst>
          </p:cNvPr>
          <p:cNvGraphicFramePr>
            <a:graphicFrameLocks noChangeAspect="1"/>
          </p:cNvGraphicFramePr>
          <p:nvPr/>
        </p:nvGraphicFramePr>
        <p:xfrm>
          <a:off x="6281738" y="0"/>
          <a:ext cx="2473325" cy="2060575"/>
        </p:xfrm>
        <a:graphic>
          <a:graphicData uri="http://schemas.openxmlformats.org/presentationml/2006/ole">
            <mc:AlternateContent xmlns:mc="http://schemas.openxmlformats.org/markup-compatibility/2006">
              <mc:Choice xmlns:v="urn:schemas-microsoft-com:vml" Requires="v">
                <p:oleObj name="Acrobat Document" r:id="rId6" imgW="10695600" imgH="7558200" progId="AcroExch.Document.11">
                  <p:embed/>
                </p:oleObj>
              </mc:Choice>
              <mc:Fallback>
                <p:oleObj name="Acrobat Document" r:id="rId6" imgW="10695600" imgH="7558200" progId="AcroExch.Document.11">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81738" y="0"/>
                        <a:ext cx="2473325"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8911AE0E-19A1-62C0-18C5-1D990F653174}"/>
              </a:ext>
            </a:extLst>
          </p:cNvPr>
          <p:cNvSpPr txBox="1">
            <a:spLocks/>
          </p:cNvSpPr>
          <p:nvPr/>
        </p:nvSpPr>
        <p:spPr bwMode="auto">
          <a:xfrm>
            <a:off x="533400" y="371475"/>
            <a:ext cx="6985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sz="2400">
                <a:solidFill>
                  <a:srgbClr val="0070C0"/>
                </a:solidFill>
                <a:latin typeface="Trebuchet MS" panose="020B0603020202020204" pitchFamily="34" charset="0"/>
                <a:cs typeface="Arial" panose="020B0604020202020204" pitchFamily="34" charset="0"/>
              </a:rPr>
              <a:t>Our MISSION</a:t>
            </a:r>
          </a:p>
          <a:p>
            <a:pPr eaLnBrk="1" hangingPunct="1">
              <a:spcBef>
                <a:spcPct val="0"/>
              </a:spcBef>
              <a:buFontTx/>
              <a:buNone/>
            </a:pPr>
            <a:endParaRPr lang="en-GB" altLang="en-US" sz="1800">
              <a:solidFill>
                <a:srgbClr val="ACC42A"/>
              </a:solidFill>
              <a:latin typeface="Myriad Roman"/>
              <a:cs typeface="Arial" panose="020B0604020202020204" pitchFamily="34" charset="0"/>
            </a:endParaRPr>
          </a:p>
        </p:txBody>
      </p:sp>
      <p:sp>
        <p:nvSpPr>
          <p:cNvPr id="7171" name="Content Placeholder 2">
            <a:extLst>
              <a:ext uri="{FF2B5EF4-FFF2-40B4-BE49-F238E27FC236}">
                <a16:creationId xmlns:a16="http://schemas.microsoft.com/office/drawing/2014/main" id="{449C23DA-3D91-BBE8-24D0-052F6F8D1933}"/>
              </a:ext>
            </a:extLst>
          </p:cNvPr>
          <p:cNvSpPr txBox="1">
            <a:spLocks/>
          </p:cNvSpPr>
          <p:nvPr/>
        </p:nvSpPr>
        <p:spPr bwMode="auto">
          <a:xfrm>
            <a:off x="500063" y="3500438"/>
            <a:ext cx="77724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just" eaLnBrk="1" hangingPunct="1">
              <a:lnSpc>
                <a:spcPct val="150000"/>
              </a:lnSpc>
              <a:spcBef>
                <a:spcPct val="0"/>
              </a:spcBef>
              <a:buFontTx/>
              <a:buNone/>
            </a:pPr>
            <a:r>
              <a:rPr lang="en-GB" altLang="en-US" sz="1800">
                <a:latin typeface="Trebuchet MS" panose="020B0603020202020204" pitchFamily="34" charset="0"/>
                <a:cs typeface="Arial" panose="020B0604020202020204" pitchFamily="34" charset="0"/>
              </a:rPr>
              <a:t>To provide high quality legal services to our clients without compromising on legal ethics.</a:t>
            </a:r>
          </a:p>
        </p:txBody>
      </p:sp>
      <p:sp>
        <p:nvSpPr>
          <p:cNvPr id="6" name="Rectangle 5">
            <a:extLst>
              <a:ext uri="{FF2B5EF4-FFF2-40B4-BE49-F238E27FC236}">
                <a16:creationId xmlns:a16="http://schemas.microsoft.com/office/drawing/2014/main" id="{A3796A6B-B285-BA0E-BFC7-44B6EC19AE34}"/>
              </a:ext>
            </a:extLst>
          </p:cNvPr>
          <p:cNvSpPr/>
          <p:nvPr/>
        </p:nvSpPr>
        <p:spPr>
          <a:xfrm>
            <a:off x="0" y="2565400"/>
            <a:ext cx="9001125" cy="44450"/>
          </a:xfrm>
          <a:prstGeom prst="rect">
            <a:avLst/>
          </a:prstGeom>
          <a:solidFill>
            <a:srgbClr val="B42989"/>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7173" name="Object 1">
            <a:extLst>
              <a:ext uri="{FF2B5EF4-FFF2-40B4-BE49-F238E27FC236}">
                <a16:creationId xmlns:a16="http://schemas.microsoft.com/office/drawing/2014/main" id="{BD7EAB50-2BC3-279A-B87A-7BF76CF51140}"/>
              </a:ext>
            </a:extLst>
          </p:cNvPr>
          <p:cNvGraphicFramePr>
            <a:graphicFrameLocks noChangeAspect="1"/>
          </p:cNvGraphicFramePr>
          <p:nvPr/>
        </p:nvGraphicFramePr>
        <p:xfrm>
          <a:off x="6581775" y="95250"/>
          <a:ext cx="2376488" cy="2325688"/>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1775" y="95250"/>
                        <a:ext cx="2376488" cy="232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55EC3329-BB70-A373-5FFE-008F5F10EA07}"/>
              </a:ext>
            </a:extLst>
          </p:cNvPr>
          <p:cNvSpPr txBox="1">
            <a:spLocks/>
          </p:cNvSpPr>
          <p:nvPr/>
        </p:nvSpPr>
        <p:spPr bwMode="auto">
          <a:xfrm>
            <a:off x="533400" y="304800"/>
            <a:ext cx="6985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a:solidFill>
                  <a:srgbClr val="0070C0"/>
                </a:solidFill>
                <a:latin typeface="Trebuchet MS" panose="020B0603020202020204" pitchFamily="34" charset="0"/>
                <a:cs typeface="Arial" panose="020B0604020202020204" pitchFamily="34" charset="0"/>
              </a:rPr>
              <a:t>Our Philosophies</a:t>
            </a:r>
          </a:p>
          <a:p>
            <a:pPr eaLnBrk="1" hangingPunct="1">
              <a:spcBef>
                <a:spcPct val="0"/>
              </a:spcBef>
              <a:buFontTx/>
              <a:buNone/>
            </a:pPr>
            <a:endParaRPr lang="en-GB" altLang="en-US" sz="1800">
              <a:solidFill>
                <a:srgbClr val="ACC42A"/>
              </a:solidFill>
              <a:latin typeface="Myriad Roman"/>
              <a:cs typeface="Arial" panose="020B0604020202020204" pitchFamily="34" charset="0"/>
            </a:endParaRPr>
          </a:p>
        </p:txBody>
      </p:sp>
      <p:sp>
        <p:nvSpPr>
          <p:cNvPr id="8195" name="Content Placeholder 2">
            <a:extLst>
              <a:ext uri="{FF2B5EF4-FFF2-40B4-BE49-F238E27FC236}">
                <a16:creationId xmlns:a16="http://schemas.microsoft.com/office/drawing/2014/main" id="{C6F0186C-1FF4-1C1F-FE36-4759C7A045DE}"/>
              </a:ext>
            </a:extLst>
          </p:cNvPr>
          <p:cNvSpPr txBox="1">
            <a:spLocks/>
          </p:cNvSpPr>
          <p:nvPr/>
        </p:nvSpPr>
        <p:spPr bwMode="auto">
          <a:xfrm>
            <a:off x="581025" y="2420938"/>
            <a:ext cx="8077200"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150000"/>
              </a:lnSpc>
              <a:spcBef>
                <a:spcPct val="0"/>
              </a:spcBef>
              <a:spcAft>
                <a:spcPts val="1200"/>
              </a:spcAft>
            </a:pPr>
            <a:endParaRPr lang="en-GB" altLang="en-US" sz="1800">
              <a:latin typeface="Trebuchet MS" panose="020B0603020202020204" pitchFamily="34" charset="0"/>
              <a:cs typeface="Arial" panose="020B0604020202020204" pitchFamily="34" charset="0"/>
            </a:endParaRPr>
          </a:p>
          <a:p>
            <a:pPr eaLnBrk="1" hangingPunct="1">
              <a:lnSpc>
                <a:spcPct val="150000"/>
              </a:lnSpc>
              <a:spcBef>
                <a:spcPct val="0"/>
              </a:spcBef>
              <a:spcAft>
                <a:spcPts val="1200"/>
              </a:spcAft>
            </a:pPr>
            <a:r>
              <a:rPr lang="en-GB" altLang="en-US" sz="1400">
                <a:latin typeface="Trebuchet MS" panose="020B0603020202020204" pitchFamily="34" charset="0"/>
                <a:cs typeface="Arial" panose="020B0604020202020204" pitchFamily="34" charset="0"/>
              </a:rPr>
              <a:t>Our firm embodies the three tenets of justice – </a:t>
            </a:r>
            <a:r>
              <a:rPr lang="en-GB" altLang="en-US" sz="1400" b="1">
                <a:latin typeface="Trebuchet MS" panose="020B0603020202020204" pitchFamily="34" charset="0"/>
                <a:cs typeface="Arial" panose="020B0604020202020204" pitchFamily="34" charset="0"/>
              </a:rPr>
              <a:t>the client, the court and the legal team. </a:t>
            </a:r>
            <a:r>
              <a:rPr lang="en-GB" altLang="en-US" sz="1400">
                <a:latin typeface="Trebuchet MS" panose="020B0603020202020204" pitchFamily="34" charset="0"/>
                <a:cs typeface="Arial" panose="020B0604020202020204" pitchFamily="34" charset="0"/>
              </a:rPr>
              <a:t>We assist our client to get justice, which they are entitled to through delivery of quality service. We recognise that to serve our clients and fully meet their expectations, we must invest time and effort to understand them, their business, their short and long-term goals and the internal and external environment that they operate in.</a:t>
            </a:r>
          </a:p>
          <a:p>
            <a:pPr eaLnBrk="1" hangingPunct="1">
              <a:lnSpc>
                <a:spcPct val="150000"/>
              </a:lnSpc>
              <a:spcBef>
                <a:spcPct val="0"/>
              </a:spcBef>
              <a:spcAft>
                <a:spcPts val="1200"/>
              </a:spcAft>
            </a:pPr>
            <a:r>
              <a:rPr lang="en-GB" altLang="en-US" sz="1400">
                <a:latin typeface="Trebuchet MS" panose="020B0603020202020204" pitchFamily="34" charset="0"/>
                <a:cs typeface="Arial" panose="020B0604020202020204" pitchFamily="34" charset="0"/>
              </a:rPr>
              <a:t>To achieve this objective we are committed to a strong client-centred relationship based on extensive  partner-client interaction through  direct partner involvement in service delivery to the client.</a:t>
            </a:r>
          </a:p>
          <a:p>
            <a:pPr eaLnBrk="1" hangingPunct="1">
              <a:lnSpc>
                <a:spcPct val="150000"/>
              </a:lnSpc>
              <a:spcBef>
                <a:spcPct val="0"/>
              </a:spcBef>
            </a:pPr>
            <a:r>
              <a:rPr lang="en-GB" altLang="en-US" sz="1400">
                <a:latin typeface="Trebuchet MS" panose="020B0603020202020204" pitchFamily="34" charset="0"/>
                <a:cs typeface="Arial" panose="020B0604020202020204" pitchFamily="34" charset="0"/>
              </a:rPr>
              <a:t>Ours is a credible firm whose performance is exemplary, handling all cases with objectivity, ethics and respect for confidentiality.</a:t>
            </a:r>
            <a:endParaRPr lang="en-US" altLang="en-US" sz="1400">
              <a:latin typeface="Trebuchet MS" panose="020B0603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817BE42C-F0FC-09C2-ACE1-4D33E7F5EF59}"/>
              </a:ext>
            </a:extLst>
          </p:cNvPr>
          <p:cNvSpPr/>
          <p:nvPr/>
        </p:nvSpPr>
        <p:spPr>
          <a:xfrm>
            <a:off x="-7938" y="2276475"/>
            <a:ext cx="9142413" cy="46038"/>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8197" name="Object 1">
            <a:extLst>
              <a:ext uri="{FF2B5EF4-FFF2-40B4-BE49-F238E27FC236}">
                <a16:creationId xmlns:a16="http://schemas.microsoft.com/office/drawing/2014/main" id="{4EF9729A-75E3-9C24-9220-581C066F8E0D}"/>
              </a:ext>
            </a:extLst>
          </p:cNvPr>
          <p:cNvGraphicFramePr>
            <a:graphicFrameLocks noChangeAspect="1"/>
          </p:cNvGraphicFramePr>
          <p:nvPr/>
        </p:nvGraphicFramePr>
        <p:xfrm>
          <a:off x="6011863" y="0"/>
          <a:ext cx="2736850" cy="2276475"/>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863" y="0"/>
                        <a:ext cx="2736850"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EF347092-82D4-3F04-EBB7-0527D9AE5254}"/>
              </a:ext>
            </a:extLst>
          </p:cNvPr>
          <p:cNvSpPr txBox="1">
            <a:spLocks/>
          </p:cNvSpPr>
          <p:nvPr/>
        </p:nvSpPr>
        <p:spPr bwMode="auto">
          <a:xfrm>
            <a:off x="533400" y="304800"/>
            <a:ext cx="6985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p:txBody>
      </p:sp>
      <p:sp>
        <p:nvSpPr>
          <p:cNvPr id="9219" name="Content Placeholder 2">
            <a:extLst>
              <a:ext uri="{FF2B5EF4-FFF2-40B4-BE49-F238E27FC236}">
                <a16:creationId xmlns:a16="http://schemas.microsoft.com/office/drawing/2014/main" id="{488993FD-60E6-571D-089B-9AA72E1E494D}"/>
              </a:ext>
            </a:extLst>
          </p:cNvPr>
          <p:cNvSpPr txBox="1">
            <a:spLocks/>
          </p:cNvSpPr>
          <p:nvPr/>
        </p:nvSpPr>
        <p:spPr bwMode="auto">
          <a:xfrm>
            <a:off x="425450" y="1700213"/>
            <a:ext cx="8610600" cy="555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800100" indent="-34290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just" eaLnBrk="1" hangingPunct="1">
              <a:lnSpc>
                <a:spcPct val="150000"/>
              </a:lnSpc>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r>
              <a:rPr lang="en-GB" altLang="en-US" sz="2800">
                <a:solidFill>
                  <a:srgbClr val="0070C0"/>
                </a:solidFill>
                <a:latin typeface="Trebuchet MS" panose="020B0603020202020204" pitchFamily="34" charset="0"/>
                <a:cs typeface="Arial" panose="020B0604020202020204" pitchFamily="34" charset="0"/>
              </a:rPr>
              <a:t>Our Strategic  Theme</a:t>
            </a:r>
            <a:endParaRPr lang="en-GB" altLang="en-US" sz="1600" b="1">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r>
              <a:rPr lang="en-GB" altLang="en-US" sz="1600" b="1">
                <a:solidFill>
                  <a:srgbClr val="0070C0"/>
                </a:solidFill>
                <a:latin typeface="Trebuchet MS" panose="020B0603020202020204" pitchFamily="34" charset="0"/>
                <a:cs typeface="Arial" panose="020B0604020202020204" pitchFamily="34" charset="0"/>
              </a:rPr>
              <a:t>At</a:t>
            </a:r>
            <a:r>
              <a:rPr lang="en-GB" altLang="en-US" sz="1600" b="1">
                <a:latin typeface="Trebuchet MS" panose="020B0603020202020204" pitchFamily="34" charset="0"/>
                <a:cs typeface="Arial" panose="020B0604020202020204" pitchFamily="34" charset="0"/>
              </a:rPr>
              <a:t> </a:t>
            </a:r>
            <a:r>
              <a:rPr lang="en-GB" altLang="en-US" sz="1600" b="1">
                <a:solidFill>
                  <a:srgbClr val="0070C0"/>
                </a:solidFill>
                <a:latin typeface="Trebuchet MS" panose="020B0603020202020204" pitchFamily="34" charset="0"/>
                <a:cs typeface="Arial" panose="020B0604020202020204" pitchFamily="34" charset="0"/>
              </a:rPr>
              <a:t>C.N. Karanja &amp; Associates Advocates </a:t>
            </a:r>
            <a:r>
              <a:rPr lang="en-GB" altLang="en-US" sz="1400">
                <a:latin typeface="Trebuchet MS" panose="020B0603020202020204" pitchFamily="34" charset="0"/>
                <a:cs typeface="Arial" panose="020B0604020202020204" pitchFamily="34" charset="0"/>
              </a:rPr>
              <a:t>we are committed to building a reputable law</a:t>
            </a:r>
          </a:p>
          <a:p>
            <a:pPr algn="just" eaLnBrk="1" hangingPunct="1">
              <a:lnSpc>
                <a:spcPct val="150000"/>
              </a:lnSpc>
              <a:spcBef>
                <a:spcPct val="0"/>
              </a:spcBef>
              <a:buFontTx/>
              <a:buNone/>
            </a:pPr>
            <a:r>
              <a:rPr lang="en-GB" altLang="en-US" sz="1400">
                <a:latin typeface="Trebuchet MS" panose="020B0603020202020204" pitchFamily="34" charset="0"/>
                <a:cs typeface="Arial" panose="020B0604020202020204" pitchFamily="34" charset="0"/>
              </a:rPr>
              <a:t>firm, a leader in providing customer friendly and quality legal services. We strive to : </a:t>
            </a:r>
          </a:p>
          <a:p>
            <a:pPr lvl="1" algn="just" eaLnBrk="1" hangingPunct="1">
              <a:lnSpc>
                <a:spcPct val="150000"/>
              </a:lnSpc>
              <a:spcBef>
                <a:spcPct val="0"/>
              </a:spcBef>
              <a:buFont typeface="Arial" panose="020B0604020202020204" pitchFamily="34" charset="0"/>
              <a:buChar char="•"/>
            </a:pPr>
            <a:r>
              <a:rPr lang="en-GB" altLang="en-US" sz="1400">
                <a:latin typeface="Trebuchet MS" panose="020B0603020202020204" pitchFamily="34" charset="0"/>
                <a:cs typeface="Arial" panose="020B0604020202020204" pitchFamily="34" charset="0"/>
              </a:rPr>
              <a:t>Provide accessible, dependable and timely services to our clients.</a:t>
            </a:r>
          </a:p>
          <a:p>
            <a:pPr lvl="1" algn="just" eaLnBrk="1" hangingPunct="1">
              <a:lnSpc>
                <a:spcPct val="150000"/>
              </a:lnSpc>
              <a:spcBef>
                <a:spcPct val="0"/>
              </a:spcBef>
              <a:buFont typeface="Arial" panose="020B0604020202020204" pitchFamily="34" charset="0"/>
              <a:buChar char="•"/>
            </a:pPr>
            <a:r>
              <a:rPr lang="en-US" altLang="en-US" sz="1400">
                <a:latin typeface="Trebuchet MS" panose="020B0603020202020204" pitchFamily="34" charset="0"/>
                <a:cs typeface="Arial" panose="020B0604020202020204" pitchFamily="34" charset="0"/>
              </a:rPr>
              <a:t>Be fair and respectful in the course of performing our duties.</a:t>
            </a:r>
          </a:p>
          <a:p>
            <a:pPr lvl="1" algn="just" eaLnBrk="1" hangingPunct="1">
              <a:lnSpc>
                <a:spcPct val="150000"/>
              </a:lnSpc>
              <a:spcBef>
                <a:spcPct val="0"/>
              </a:spcBef>
              <a:buFont typeface="Arial" panose="020B0604020202020204" pitchFamily="34" charset="0"/>
              <a:buChar char="•"/>
            </a:pPr>
            <a:r>
              <a:rPr lang="en-US" altLang="en-US" sz="1400">
                <a:latin typeface="Trebuchet MS" panose="020B0603020202020204" pitchFamily="34" charset="0"/>
                <a:cs typeface="Arial" panose="020B0604020202020204" pitchFamily="34" charset="0"/>
              </a:rPr>
              <a:t>Be clear and transparent in our operations.</a:t>
            </a:r>
          </a:p>
          <a:p>
            <a:pPr lvl="1" algn="just" eaLnBrk="1" hangingPunct="1">
              <a:lnSpc>
                <a:spcPct val="150000"/>
              </a:lnSpc>
              <a:spcBef>
                <a:spcPct val="0"/>
              </a:spcBef>
              <a:buFont typeface="Arial" panose="020B0604020202020204" pitchFamily="34" charset="0"/>
              <a:buChar char="•"/>
            </a:pPr>
            <a:r>
              <a:rPr lang="en-US" altLang="en-US" sz="1400">
                <a:latin typeface="Trebuchet MS" panose="020B0603020202020204" pitchFamily="34" charset="0"/>
                <a:cs typeface="Arial" panose="020B0604020202020204" pitchFamily="34" charset="0"/>
              </a:rPr>
              <a:t>Be responsive to the needs of our clients and be committed to improvement in legal service delivery.</a:t>
            </a:r>
          </a:p>
          <a:p>
            <a:pPr algn="just" eaLnBrk="1" hangingPunct="1">
              <a:lnSpc>
                <a:spcPct val="150000"/>
              </a:lnSpc>
              <a:spcBef>
                <a:spcPct val="0"/>
              </a:spcBef>
              <a:buFontTx/>
              <a:buNone/>
            </a:pPr>
            <a:r>
              <a:rPr lang="en-US" altLang="en-US" sz="1400">
                <a:latin typeface="Trebuchet MS" panose="020B0603020202020204" pitchFamily="34" charset="0"/>
                <a:cs typeface="Arial" panose="020B0604020202020204" pitchFamily="34" charset="0"/>
              </a:rPr>
              <a:t>In this regard we have undertaken the following steps:</a:t>
            </a:r>
          </a:p>
          <a:p>
            <a:pPr lvl="1" algn="just" eaLnBrk="1" hangingPunct="1">
              <a:lnSpc>
                <a:spcPct val="150000"/>
              </a:lnSpc>
              <a:spcBef>
                <a:spcPct val="0"/>
              </a:spcBef>
              <a:buFont typeface="Arial" panose="020B0604020202020204" pitchFamily="34" charset="0"/>
              <a:buChar char="•"/>
            </a:pPr>
            <a:r>
              <a:rPr lang="en-US" altLang="en-US" sz="1400">
                <a:latin typeface="Trebuchet MS" panose="020B0603020202020204" pitchFamily="34" charset="0"/>
                <a:cs typeface="Arial" panose="020B0604020202020204" pitchFamily="34" charset="0"/>
              </a:rPr>
              <a:t>Consistently develop and retain a professional workforce.</a:t>
            </a:r>
          </a:p>
          <a:p>
            <a:pPr lvl="1" algn="just" eaLnBrk="1" hangingPunct="1">
              <a:lnSpc>
                <a:spcPct val="150000"/>
              </a:lnSpc>
              <a:spcBef>
                <a:spcPct val="0"/>
              </a:spcBef>
              <a:buFont typeface="Arial" panose="020B0604020202020204" pitchFamily="34" charset="0"/>
              <a:buChar char="•"/>
            </a:pPr>
            <a:r>
              <a:rPr lang="en-US" altLang="en-US" sz="1400">
                <a:latin typeface="Trebuchet MS" panose="020B0603020202020204" pitchFamily="34" charset="0"/>
                <a:cs typeface="Arial" panose="020B0604020202020204" pitchFamily="34" charset="0"/>
              </a:rPr>
              <a:t>Developed and implemented performance based appraisal system.</a:t>
            </a:r>
          </a:p>
          <a:p>
            <a:pPr lvl="1" algn="just" eaLnBrk="1" hangingPunct="1">
              <a:lnSpc>
                <a:spcPct val="150000"/>
              </a:lnSpc>
              <a:spcBef>
                <a:spcPct val="0"/>
              </a:spcBef>
              <a:buFont typeface="Arial" panose="020B0604020202020204" pitchFamily="34" charset="0"/>
              <a:buChar char="•"/>
            </a:pPr>
            <a:r>
              <a:rPr lang="en-US" altLang="en-US" sz="1400">
                <a:latin typeface="Trebuchet MS" panose="020B0603020202020204" pitchFamily="34" charset="0"/>
                <a:cs typeface="Arial" panose="020B0604020202020204" pitchFamily="34" charset="0"/>
              </a:rPr>
              <a:t>Implemented objectively feasible performance parameters.</a:t>
            </a:r>
          </a:p>
          <a:p>
            <a:pPr lvl="1" algn="just" eaLnBrk="1" hangingPunct="1">
              <a:lnSpc>
                <a:spcPct val="150000"/>
              </a:lnSpc>
              <a:spcBef>
                <a:spcPct val="0"/>
              </a:spcBef>
              <a:buFont typeface="Arial" panose="020B0604020202020204" pitchFamily="34" charset="0"/>
              <a:buChar char="•"/>
            </a:pPr>
            <a:r>
              <a:rPr lang="en-US" altLang="en-US" sz="1400">
                <a:latin typeface="Trebuchet MS" panose="020B0603020202020204" pitchFamily="34" charset="0"/>
                <a:cs typeface="Arial" panose="020B0604020202020204" pitchFamily="34" charset="0"/>
              </a:rPr>
              <a:t>Established clear communications channels among the staff, clients, and other stakeholders.</a:t>
            </a:r>
          </a:p>
        </p:txBody>
      </p:sp>
      <p:sp>
        <p:nvSpPr>
          <p:cNvPr id="6" name="Rectangle 5">
            <a:extLst>
              <a:ext uri="{FF2B5EF4-FFF2-40B4-BE49-F238E27FC236}">
                <a16:creationId xmlns:a16="http://schemas.microsoft.com/office/drawing/2014/main" id="{771CC559-D8EC-68B8-43A8-04465B45D406}"/>
              </a:ext>
            </a:extLst>
          </p:cNvPr>
          <p:cNvSpPr/>
          <p:nvPr/>
        </p:nvSpPr>
        <p:spPr>
          <a:xfrm>
            <a:off x="107950" y="2205038"/>
            <a:ext cx="8767763" cy="46037"/>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9221" name="Object 2">
            <a:extLst>
              <a:ext uri="{FF2B5EF4-FFF2-40B4-BE49-F238E27FC236}">
                <a16:creationId xmlns:a16="http://schemas.microsoft.com/office/drawing/2014/main" id="{460C7DE3-80E6-2081-F078-EE64BF81AC9D}"/>
              </a:ext>
            </a:extLst>
          </p:cNvPr>
          <p:cNvGraphicFramePr>
            <a:graphicFrameLocks noChangeAspect="1"/>
          </p:cNvGraphicFramePr>
          <p:nvPr/>
        </p:nvGraphicFramePr>
        <p:xfrm>
          <a:off x="5651500" y="25400"/>
          <a:ext cx="3024188" cy="2108200"/>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500" y="25400"/>
                        <a:ext cx="3024188"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5419C831-45E8-089B-E782-DB603E5EC32B}"/>
              </a:ext>
            </a:extLst>
          </p:cNvPr>
          <p:cNvSpPr txBox="1">
            <a:spLocks/>
          </p:cNvSpPr>
          <p:nvPr/>
        </p:nvSpPr>
        <p:spPr bwMode="auto">
          <a:xfrm>
            <a:off x="971550" y="319088"/>
            <a:ext cx="698500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sz="2800">
                <a:solidFill>
                  <a:srgbClr val="0070C0"/>
                </a:solidFill>
                <a:latin typeface="Trebuchet MS" panose="020B0603020202020204" pitchFamily="34" charset="0"/>
                <a:cs typeface="Arial" panose="020B0604020202020204" pitchFamily="34" charset="0"/>
              </a:rPr>
              <a:t>Areas of Expertise</a:t>
            </a:r>
          </a:p>
          <a:p>
            <a:pPr eaLnBrk="1" hangingPunct="1">
              <a:spcBef>
                <a:spcPct val="0"/>
              </a:spcBef>
              <a:buFontTx/>
              <a:buNone/>
            </a:pPr>
            <a:endParaRPr lang="en-GB" altLang="en-US" sz="1800">
              <a:solidFill>
                <a:srgbClr val="ACC42A"/>
              </a:solidFill>
              <a:latin typeface="Myriad Roman"/>
              <a:cs typeface="Arial" panose="020B0604020202020204" pitchFamily="34" charset="0"/>
            </a:endParaRPr>
          </a:p>
        </p:txBody>
      </p:sp>
      <p:sp>
        <p:nvSpPr>
          <p:cNvPr id="10243" name="Content Placeholder 2">
            <a:extLst>
              <a:ext uri="{FF2B5EF4-FFF2-40B4-BE49-F238E27FC236}">
                <a16:creationId xmlns:a16="http://schemas.microsoft.com/office/drawing/2014/main" id="{FC2C5E88-D42A-73B8-43BB-D1BFFAC50F84}"/>
              </a:ext>
            </a:extLst>
          </p:cNvPr>
          <p:cNvSpPr txBox="1">
            <a:spLocks/>
          </p:cNvSpPr>
          <p:nvPr/>
        </p:nvSpPr>
        <p:spPr bwMode="auto">
          <a:xfrm>
            <a:off x="657225" y="2133600"/>
            <a:ext cx="80010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150000"/>
              </a:lnSpc>
              <a:spcBef>
                <a:spcPct val="0"/>
              </a:spcBef>
              <a:buFontTx/>
              <a:buNone/>
            </a:pPr>
            <a:endParaRPr lang="en-GB" altLang="en-US" sz="1800">
              <a:latin typeface="Trebuchet MS" panose="020B0603020202020204" pitchFamily="34" charset="0"/>
              <a:cs typeface="Arial" panose="020B0604020202020204" pitchFamily="34" charset="0"/>
            </a:endParaRPr>
          </a:p>
          <a:p>
            <a:pPr eaLnBrk="1" hangingPunct="1">
              <a:lnSpc>
                <a:spcPct val="150000"/>
              </a:lnSpc>
              <a:spcBef>
                <a:spcPct val="0"/>
              </a:spcBef>
              <a:buFontTx/>
              <a:buNone/>
            </a:pPr>
            <a:endParaRPr lang="en-GB" altLang="en-US" sz="1800">
              <a:latin typeface="Trebuchet MS" panose="020B0603020202020204" pitchFamily="34" charset="0"/>
              <a:cs typeface="Arial" panose="020B0604020202020204" pitchFamily="34" charset="0"/>
            </a:endParaRPr>
          </a:p>
          <a:p>
            <a:pPr eaLnBrk="1" hangingPunct="1">
              <a:lnSpc>
                <a:spcPct val="150000"/>
              </a:lnSpc>
              <a:spcBef>
                <a:spcPct val="0"/>
              </a:spcBef>
              <a:buFontTx/>
              <a:buNone/>
            </a:pPr>
            <a:r>
              <a:rPr lang="en-GB" altLang="en-US" sz="1800">
                <a:latin typeface="Trebuchet MS" panose="020B0603020202020204" pitchFamily="34" charset="0"/>
                <a:cs typeface="Arial" panose="020B0604020202020204" pitchFamily="34" charset="0"/>
              </a:rPr>
              <a:t>Our strengths in the legal profession lie in the areas of:</a:t>
            </a:r>
          </a:p>
          <a:p>
            <a:pPr eaLnBrk="1" hangingPunct="1">
              <a:lnSpc>
                <a:spcPct val="150000"/>
              </a:lnSpc>
              <a:spcBef>
                <a:spcPct val="0"/>
              </a:spcBef>
              <a:buFontTx/>
              <a:buNone/>
            </a:pPr>
            <a:endParaRPr lang="en-GB" altLang="en-US" sz="1800">
              <a:latin typeface="Trebuchet MS" panose="020B0603020202020204" pitchFamily="34" charset="0"/>
              <a:cs typeface="Arial" panose="020B0604020202020204" pitchFamily="34" charset="0"/>
            </a:endParaRPr>
          </a:p>
          <a:p>
            <a:pPr eaLnBrk="1" hangingPunct="1">
              <a:lnSpc>
                <a:spcPct val="150000"/>
              </a:lnSpc>
              <a:spcBef>
                <a:spcPct val="0"/>
              </a:spcBef>
              <a:buFontTx/>
              <a:buNone/>
            </a:pPr>
            <a:endParaRPr lang="en-GB" altLang="en-US" sz="1800">
              <a:latin typeface="Trebuchet MS" panose="020B0603020202020204" pitchFamily="34" charset="0"/>
              <a:cs typeface="Arial" panose="020B0604020202020204" pitchFamily="34" charset="0"/>
            </a:endParaRPr>
          </a:p>
        </p:txBody>
      </p:sp>
      <p:sp>
        <p:nvSpPr>
          <p:cNvPr id="10244" name="Content Placeholder 2">
            <a:extLst>
              <a:ext uri="{FF2B5EF4-FFF2-40B4-BE49-F238E27FC236}">
                <a16:creationId xmlns:a16="http://schemas.microsoft.com/office/drawing/2014/main" id="{E342E302-63B2-3301-C49F-DEF50B3C4821}"/>
              </a:ext>
            </a:extLst>
          </p:cNvPr>
          <p:cNvSpPr txBox="1">
            <a:spLocks/>
          </p:cNvSpPr>
          <p:nvPr/>
        </p:nvSpPr>
        <p:spPr bwMode="auto">
          <a:xfrm>
            <a:off x="660400" y="3052763"/>
            <a:ext cx="403860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150000"/>
              </a:lnSpc>
              <a:spcBef>
                <a:spcPct val="0"/>
              </a:spcBef>
              <a:buClr>
                <a:srgbClr val="B42989"/>
              </a:buClr>
            </a:pPr>
            <a:endParaRPr lang="en-GB" altLang="en-US" sz="1600" b="1">
              <a:latin typeface="Trebuchet MS" panose="020B0603020202020204" pitchFamily="34" charset="0"/>
              <a:cs typeface="Arial" panose="020B0604020202020204" pitchFamily="34" charset="0"/>
            </a:endParaRPr>
          </a:p>
          <a:p>
            <a:pPr eaLnBrk="1" hangingPunct="1">
              <a:lnSpc>
                <a:spcPct val="150000"/>
              </a:lnSpc>
              <a:spcBef>
                <a:spcPct val="0"/>
              </a:spcBef>
              <a:buClr>
                <a:srgbClr val="B42989"/>
              </a:buClr>
            </a:pPr>
            <a:r>
              <a:rPr lang="en-GB" altLang="en-US" sz="1600" b="1">
                <a:latin typeface="Trebuchet MS" panose="020B0603020202020204" pitchFamily="34" charset="0"/>
                <a:cs typeface="Arial" panose="020B0604020202020204" pitchFamily="34" charset="0"/>
              </a:rPr>
              <a:t>Corporate, Commercial, Business &amp; Company Law</a:t>
            </a:r>
          </a:p>
          <a:p>
            <a:pPr eaLnBrk="1" hangingPunct="1">
              <a:lnSpc>
                <a:spcPct val="150000"/>
              </a:lnSpc>
              <a:spcBef>
                <a:spcPct val="0"/>
              </a:spcBef>
              <a:buClr>
                <a:srgbClr val="B42989"/>
              </a:buClr>
            </a:pPr>
            <a:r>
              <a:rPr lang="en-GB" altLang="en-US" sz="1600" b="1">
                <a:latin typeface="Trebuchet MS" panose="020B0603020202020204" pitchFamily="34" charset="0"/>
                <a:cs typeface="Arial" panose="020B0604020202020204" pitchFamily="34" charset="0"/>
              </a:rPr>
              <a:t>Bankruptcy and Receivership Law</a:t>
            </a:r>
          </a:p>
          <a:p>
            <a:pPr eaLnBrk="1" hangingPunct="1">
              <a:lnSpc>
                <a:spcPct val="150000"/>
              </a:lnSpc>
              <a:spcBef>
                <a:spcPct val="0"/>
              </a:spcBef>
              <a:buClr>
                <a:srgbClr val="B42989"/>
              </a:buClr>
            </a:pPr>
            <a:r>
              <a:rPr lang="en-GB" altLang="en-US" sz="1600" b="1">
                <a:latin typeface="Trebuchet MS" panose="020B0603020202020204" pitchFamily="34" charset="0"/>
                <a:cs typeface="Arial" panose="020B0604020202020204" pitchFamily="34" charset="0"/>
              </a:rPr>
              <a:t>Conveyance and Land Law	</a:t>
            </a:r>
          </a:p>
          <a:p>
            <a:pPr eaLnBrk="1" hangingPunct="1">
              <a:lnSpc>
                <a:spcPct val="150000"/>
              </a:lnSpc>
              <a:spcBef>
                <a:spcPct val="0"/>
              </a:spcBef>
              <a:buClr>
                <a:srgbClr val="B42989"/>
              </a:buClr>
            </a:pPr>
            <a:r>
              <a:rPr lang="en-GB" altLang="en-US" sz="1600" b="1">
                <a:latin typeface="Trebuchet MS" panose="020B0603020202020204" pitchFamily="34" charset="0"/>
                <a:cs typeface="Arial" panose="020B0604020202020204" pitchFamily="34" charset="0"/>
              </a:rPr>
              <a:t>Real Estate &amp; Property Law	</a:t>
            </a:r>
          </a:p>
          <a:p>
            <a:pPr eaLnBrk="1" hangingPunct="1">
              <a:lnSpc>
                <a:spcPct val="150000"/>
              </a:lnSpc>
              <a:spcBef>
                <a:spcPct val="0"/>
              </a:spcBef>
              <a:buClr>
                <a:srgbClr val="B42989"/>
              </a:buClr>
            </a:pPr>
            <a:r>
              <a:rPr lang="en-GB" altLang="en-US" sz="1600" b="1">
                <a:latin typeface="Trebuchet MS" panose="020B0603020202020204" pitchFamily="34" charset="0"/>
                <a:cs typeface="Arial" panose="020B0604020202020204" pitchFamily="34" charset="0"/>
              </a:rPr>
              <a:t>Banking and Financial Law</a:t>
            </a:r>
          </a:p>
        </p:txBody>
      </p:sp>
      <p:sp>
        <p:nvSpPr>
          <p:cNvPr id="10245" name="Content Placeholder 2">
            <a:extLst>
              <a:ext uri="{FF2B5EF4-FFF2-40B4-BE49-F238E27FC236}">
                <a16:creationId xmlns:a16="http://schemas.microsoft.com/office/drawing/2014/main" id="{D9AD7344-8C8B-2C62-6C9D-3D21A62AED7F}"/>
              </a:ext>
            </a:extLst>
          </p:cNvPr>
          <p:cNvSpPr txBox="1">
            <a:spLocks/>
          </p:cNvSpPr>
          <p:nvPr/>
        </p:nvSpPr>
        <p:spPr bwMode="auto">
          <a:xfrm>
            <a:off x="5070475" y="3284538"/>
            <a:ext cx="4038600" cy="411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150000"/>
              </a:lnSpc>
              <a:spcBef>
                <a:spcPct val="0"/>
              </a:spcBef>
              <a:buClr>
                <a:srgbClr val="B42989"/>
              </a:buClr>
            </a:pPr>
            <a:r>
              <a:rPr lang="en-GB" altLang="en-US" sz="1800" b="1">
                <a:latin typeface="Trebuchet MS" panose="020B0603020202020204" pitchFamily="34" charset="0"/>
                <a:cs typeface="Arial" panose="020B0604020202020204" pitchFamily="34" charset="0"/>
              </a:rPr>
              <a:t>Intellectual Property			</a:t>
            </a:r>
          </a:p>
          <a:p>
            <a:pPr eaLnBrk="1" hangingPunct="1">
              <a:lnSpc>
                <a:spcPct val="150000"/>
              </a:lnSpc>
              <a:spcBef>
                <a:spcPct val="0"/>
              </a:spcBef>
              <a:buClr>
                <a:srgbClr val="B42989"/>
              </a:buClr>
            </a:pPr>
            <a:r>
              <a:rPr lang="en-GB" altLang="en-US" sz="1800" b="1">
                <a:latin typeface="Trebuchet MS" panose="020B0603020202020204" pitchFamily="34" charset="0"/>
                <a:cs typeface="Arial" panose="020B0604020202020204" pitchFamily="34" charset="0"/>
              </a:rPr>
              <a:t>Landlords &amp; Tenants, Leases &amp; Rent </a:t>
            </a:r>
            <a:r>
              <a:rPr lang="en-GB" altLang="en-US" sz="1600" b="1">
                <a:latin typeface="Trebuchet MS" panose="020B0603020202020204" pitchFamily="34" charset="0"/>
                <a:cs typeface="Arial" panose="020B0604020202020204" pitchFamily="34" charset="0"/>
              </a:rPr>
              <a:t>Tribunal</a:t>
            </a:r>
            <a:r>
              <a:rPr lang="en-GB" altLang="en-US" sz="1800" b="1">
                <a:latin typeface="Trebuchet MS" panose="020B0603020202020204" pitchFamily="34" charset="0"/>
                <a:cs typeface="Arial" panose="020B0604020202020204" pitchFamily="34" charset="0"/>
              </a:rPr>
              <a:t> Matters </a:t>
            </a:r>
          </a:p>
          <a:p>
            <a:pPr eaLnBrk="1" hangingPunct="1">
              <a:lnSpc>
                <a:spcPct val="150000"/>
              </a:lnSpc>
              <a:spcBef>
                <a:spcPct val="0"/>
              </a:spcBef>
              <a:buClr>
                <a:srgbClr val="B42989"/>
              </a:buClr>
            </a:pPr>
            <a:r>
              <a:rPr lang="en-GB" altLang="en-US" sz="1800" b="1">
                <a:latin typeface="Trebuchet MS" panose="020B0603020202020204" pitchFamily="34" charset="0"/>
                <a:cs typeface="Arial" panose="020B0604020202020204" pitchFamily="34" charset="0"/>
              </a:rPr>
              <a:t>Trust and Succession Law</a:t>
            </a:r>
          </a:p>
          <a:p>
            <a:pPr eaLnBrk="1" hangingPunct="1">
              <a:lnSpc>
                <a:spcPct val="150000"/>
              </a:lnSpc>
              <a:spcBef>
                <a:spcPct val="0"/>
              </a:spcBef>
              <a:buClr>
                <a:srgbClr val="B42989"/>
              </a:buClr>
            </a:pPr>
            <a:r>
              <a:rPr lang="en-GB" altLang="en-US" sz="1800" b="1">
                <a:latin typeface="Trebuchet MS" panose="020B0603020202020204" pitchFamily="34" charset="0"/>
                <a:cs typeface="Arial" panose="020B0604020202020204" pitchFamily="34" charset="0"/>
              </a:rPr>
              <a:t>Arbitration &amp; Other Alternative Dispute  Resolution  Matters</a:t>
            </a:r>
          </a:p>
          <a:p>
            <a:pPr eaLnBrk="1" hangingPunct="1">
              <a:lnSpc>
                <a:spcPct val="150000"/>
              </a:lnSpc>
              <a:spcBef>
                <a:spcPct val="0"/>
              </a:spcBef>
              <a:buClr>
                <a:srgbClr val="B42989"/>
              </a:buClr>
            </a:pPr>
            <a:r>
              <a:rPr lang="en-GB" altLang="en-US" sz="1800" b="1">
                <a:latin typeface="Trebuchet MS" panose="020B0603020202020204" pitchFamily="34" charset="0"/>
                <a:cs typeface="Arial" panose="020B0604020202020204" pitchFamily="34" charset="0"/>
              </a:rPr>
              <a:t>Legal Training </a:t>
            </a:r>
          </a:p>
          <a:p>
            <a:pPr eaLnBrk="1" hangingPunct="1">
              <a:lnSpc>
                <a:spcPct val="150000"/>
              </a:lnSpc>
              <a:spcBef>
                <a:spcPct val="0"/>
              </a:spcBef>
              <a:buClr>
                <a:srgbClr val="B42989"/>
              </a:buClr>
            </a:pPr>
            <a:endParaRPr lang="en-GB" altLang="en-US" sz="1800" b="1">
              <a:latin typeface="Trebuchet MS" panose="020B0603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44FE0352-7EE0-EE7A-2372-D83CD060D8A3}"/>
              </a:ext>
            </a:extLst>
          </p:cNvPr>
          <p:cNvSpPr/>
          <p:nvPr/>
        </p:nvSpPr>
        <p:spPr>
          <a:xfrm>
            <a:off x="-107950" y="2141538"/>
            <a:ext cx="9142413" cy="46037"/>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10247" name="Object 1">
            <a:extLst>
              <a:ext uri="{FF2B5EF4-FFF2-40B4-BE49-F238E27FC236}">
                <a16:creationId xmlns:a16="http://schemas.microsoft.com/office/drawing/2014/main" id="{90997444-DBF7-9B07-2FAA-E7B3678EFF20}"/>
              </a:ext>
            </a:extLst>
          </p:cNvPr>
          <p:cNvGraphicFramePr>
            <a:graphicFrameLocks noChangeAspect="1"/>
          </p:cNvGraphicFramePr>
          <p:nvPr/>
        </p:nvGraphicFramePr>
        <p:xfrm>
          <a:off x="5651500" y="115888"/>
          <a:ext cx="3289300" cy="2017712"/>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500" y="115888"/>
                        <a:ext cx="3289300"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EA0C911F-BDF1-629C-4148-E14863E99877}"/>
              </a:ext>
            </a:extLst>
          </p:cNvPr>
          <p:cNvSpPr txBox="1">
            <a:spLocks/>
          </p:cNvSpPr>
          <p:nvPr/>
        </p:nvSpPr>
        <p:spPr bwMode="auto">
          <a:xfrm>
            <a:off x="285750" y="2214563"/>
            <a:ext cx="698500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sz="2800">
                <a:solidFill>
                  <a:srgbClr val="0070C0"/>
                </a:solidFill>
                <a:latin typeface="Trebuchet MS" panose="020B0603020202020204" pitchFamily="34" charset="0"/>
                <a:cs typeface="Arial" panose="020B0604020202020204" pitchFamily="34" charset="0"/>
              </a:rPr>
              <a:t>Other Areas</a:t>
            </a:r>
          </a:p>
          <a:p>
            <a:pPr eaLnBrk="1" hangingPunct="1">
              <a:spcBef>
                <a:spcPct val="0"/>
              </a:spcBef>
              <a:buFontTx/>
              <a:buNone/>
            </a:pPr>
            <a:endParaRPr lang="en-GB" altLang="en-US" sz="1800">
              <a:solidFill>
                <a:srgbClr val="ACC42A"/>
              </a:solidFill>
              <a:latin typeface="Myriad Roman"/>
              <a:cs typeface="Arial" panose="020B0604020202020204" pitchFamily="34" charset="0"/>
            </a:endParaRPr>
          </a:p>
        </p:txBody>
      </p:sp>
      <p:sp>
        <p:nvSpPr>
          <p:cNvPr id="11267" name="Rectangle 6">
            <a:extLst>
              <a:ext uri="{FF2B5EF4-FFF2-40B4-BE49-F238E27FC236}">
                <a16:creationId xmlns:a16="http://schemas.microsoft.com/office/drawing/2014/main" id="{9E209101-C33E-2252-E9F9-6A9D196463F0}"/>
              </a:ext>
            </a:extLst>
          </p:cNvPr>
          <p:cNvSpPr>
            <a:spLocks noChangeArrowheads="1"/>
          </p:cNvSpPr>
          <p:nvPr/>
        </p:nvSpPr>
        <p:spPr bwMode="auto">
          <a:xfrm>
            <a:off x="539750" y="3933825"/>
            <a:ext cx="5791200"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150000"/>
              </a:lnSpc>
              <a:spcBef>
                <a:spcPct val="0"/>
              </a:spcBef>
              <a:buClr>
                <a:srgbClr val="B42989"/>
              </a:buClr>
            </a:pPr>
            <a:r>
              <a:rPr lang="en-GB" altLang="en-US" sz="2000">
                <a:latin typeface="Trebuchet MS" panose="020B0603020202020204" pitchFamily="34" charset="0"/>
                <a:cs typeface="Arial" panose="020B0604020202020204" pitchFamily="34" charset="0"/>
              </a:rPr>
              <a:t>Notaries Public</a:t>
            </a:r>
          </a:p>
          <a:p>
            <a:pPr eaLnBrk="1" hangingPunct="1">
              <a:lnSpc>
                <a:spcPct val="150000"/>
              </a:lnSpc>
              <a:spcBef>
                <a:spcPct val="0"/>
              </a:spcBef>
              <a:buClr>
                <a:srgbClr val="B42989"/>
              </a:buClr>
            </a:pPr>
            <a:r>
              <a:rPr lang="en-GB" altLang="en-US" sz="2000">
                <a:latin typeface="Trebuchet MS" panose="020B0603020202020204" pitchFamily="34" charset="0"/>
                <a:cs typeface="Arial" panose="020B0604020202020204" pitchFamily="34" charset="0"/>
              </a:rPr>
              <a:t>Commissioners for Oath</a:t>
            </a:r>
          </a:p>
          <a:p>
            <a:pPr eaLnBrk="1" hangingPunct="1">
              <a:lnSpc>
                <a:spcPct val="150000"/>
              </a:lnSpc>
              <a:spcBef>
                <a:spcPct val="0"/>
              </a:spcBef>
              <a:buClr>
                <a:srgbClr val="B42989"/>
              </a:buClr>
            </a:pPr>
            <a:r>
              <a:rPr lang="en-GB" altLang="en-US" sz="2000">
                <a:latin typeface="Trebuchet MS" panose="020B0603020202020204" pitchFamily="34" charset="0"/>
                <a:cs typeface="Arial" panose="020B0604020202020204" pitchFamily="34" charset="0"/>
              </a:rPr>
              <a:t>Certified Public Secretarial Services </a:t>
            </a:r>
            <a:endParaRPr lang="en-US" altLang="en-US" sz="2000">
              <a:latin typeface="Trebuchet MS" panose="020B0603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2E700F0E-9C91-006E-86E2-43BB0FF6D714}"/>
              </a:ext>
            </a:extLst>
          </p:cNvPr>
          <p:cNvSpPr/>
          <p:nvPr/>
        </p:nvSpPr>
        <p:spPr>
          <a:xfrm>
            <a:off x="4763" y="2492375"/>
            <a:ext cx="9142412" cy="46038"/>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11269" name="Object 1">
            <a:extLst>
              <a:ext uri="{FF2B5EF4-FFF2-40B4-BE49-F238E27FC236}">
                <a16:creationId xmlns:a16="http://schemas.microsoft.com/office/drawing/2014/main" id="{4D591DD9-9431-0850-00A5-ADBAA0CD4D8E}"/>
              </a:ext>
            </a:extLst>
          </p:cNvPr>
          <p:cNvGraphicFramePr>
            <a:graphicFrameLocks noChangeAspect="1"/>
          </p:cNvGraphicFramePr>
          <p:nvPr/>
        </p:nvGraphicFramePr>
        <p:xfrm>
          <a:off x="5626100" y="0"/>
          <a:ext cx="3289300" cy="2492375"/>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6100" y="0"/>
                        <a:ext cx="32893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
            <a:extLst>
              <a:ext uri="{FF2B5EF4-FFF2-40B4-BE49-F238E27FC236}">
                <a16:creationId xmlns:a16="http://schemas.microsoft.com/office/drawing/2014/main" id="{DEF5C39C-6289-B503-C464-01542FE029C2}"/>
              </a:ext>
            </a:extLst>
          </p:cNvPr>
          <p:cNvSpPr txBox="1">
            <a:spLocks noChangeArrowheads="1"/>
          </p:cNvSpPr>
          <p:nvPr/>
        </p:nvSpPr>
        <p:spPr bwMode="auto">
          <a:xfrm>
            <a:off x="1524000" y="3200400"/>
            <a:ext cx="6096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4000">
                <a:solidFill>
                  <a:srgbClr val="0070C0"/>
                </a:solidFill>
                <a:latin typeface="Trebuchet MS" panose="020B0603020202020204" pitchFamily="34" charset="0"/>
                <a:cs typeface="Arial" panose="020B0604020202020204" pitchFamily="34" charset="0"/>
              </a:rPr>
              <a:t>OUR CLIENTS</a:t>
            </a:r>
          </a:p>
        </p:txBody>
      </p:sp>
      <p:sp>
        <p:nvSpPr>
          <p:cNvPr id="5" name="Rectangle 4">
            <a:extLst>
              <a:ext uri="{FF2B5EF4-FFF2-40B4-BE49-F238E27FC236}">
                <a16:creationId xmlns:a16="http://schemas.microsoft.com/office/drawing/2014/main" id="{6C1F969F-E5BF-1362-DC3B-3D1B55C92368}"/>
              </a:ext>
            </a:extLst>
          </p:cNvPr>
          <p:cNvSpPr/>
          <p:nvPr/>
        </p:nvSpPr>
        <p:spPr>
          <a:xfrm>
            <a:off x="-161925" y="2852738"/>
            <a:ext cx="9142413" cy="46037"/>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12292" name="Object 1">
            <a:extLst>
              <a:ext uri="{FF2B5EF4-FFF2-40B4-BE49-F238E27FC236}">
                <a16:creationId xmlns:a16="http://schemas.microsoft.com/office/drawing/2014/main" id="{763F5896-1D25-EEEF-F939-86AFCEAE9270}"/>
              </a:ext>
            </a:extLst>
          </p:cNvPr>
          <p:cNvGraphicFramePr>
            <a:graphicFrameLocks noChangeAspect="1"/>
          </p:cNvGraphicFramePr>
          <p:nvPr/>
        </p:nvGraphicFramePr>
        <p:xfrm>
          <a:off x="6156325" y="136525"/>
          <a:ext cx="2851150" cy="2644775"/>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136525"/>
                        <a:ext cx="2851150" cy="264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15">
            <a:extLst>
              <a:ext uri="{FF2B5EF4-FFF2-40B4-BE49-F238E27FC236}">
                <a16:creationId xmlns:a16="http://schemas.microsoft.com/office/drawing/2014/main" id="{A8AA1813-DA18-801B-006A-8813075DBF38}"/>
              </a:ext>
            </a:extLst>
          </p:cNvPr>
          <p:cNvSpPr txBox="1">
            <a:spLocks noChangeArrowheads="1"/>
          </p:cNvSpPr>
          <p:nvPr/>
        </p:nvSpPr>
        <p:spPr bwMode="auto">
          <a:xfrm>
            <a:off x="685800" y="25146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13315" name="Title 1">
            <a:extLst>
              <a:ext uri="{FF2B5EF4-FFF2-40B4-BE49-F238E27FC236}">
                <a16:creationId xmlns:a16="http://schemas.microsoft.com/office/drawing/2014/main" id="{7E3E5497-0400-2BEE-C7C0-1F735ADBD0BC}"/>
              </a:ext>
            </a:extLst>
          </p:cNvPr>
          <p:cNvSpPr txBox="1">
            <a:spLocks/>
          </p:cNvSpPr>
          <p:nvPr/>
        </p:nvSpPr>
        <p:spPr bwMode="auto">
          <a:xfrm>
            <a:off x="142875" y="1144588"/>
            <a:ext cx="485775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B0F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sz="2800">
                <a:solidFill>
                  <a:srgbClr val="00B0F0"/>
                </a:solidFill>
                <a:latin typeface="Trebuchet MS" panose="020B0603020202020204" pitchFamily="34" charset="0"/>
                <a:cs typeface="Arial" panose="020B0604020202020204" pitchFamily="34" charset="0"/>
              </a:rPr>
              <a:t>Our Bankers</a:t>
            </a:r>
          </a:p>
          <a:p>
            <a:pPr eaLnBrk="1" hangingPunct="1">
              <a:spcBef>
                <a:spcPct val="0"/>
              </a:spcBef>
              <a:buFontTx/>
              <a:buNone/>
            </a:pPr>
            <a:endParaRPr lang="en-GB" altLang="en-US" sz="1800">
              <a:solidFill>
                <a:srgbClr val="ACC42A"/>
              </a:solidFill>
              <a:latin typeface="Myriad Roman"/>
              <a:cs typeface="Arial" panose="020B0604020202020204" pitchFamily="34" charset="0"/>
            </a:endParaRPr>
          </a:p>
        </p:txBody>
      </p:sp>
      <p:pic>
        <p:nvPicPr>
          <p:cNvPr id="13316" name="Picture 11" descr="Cooperative bank of Kenya">
            <a:extLst>
              <a:ext uri="{FF2B5EF4-FFF2-40B4-BE49-F238E27FC236}">
                <a16:creationId xmlns:a16="http://schemas.microsoft.com/office/drawing/2014/main" id="{F581907C-95AD-8CBF-70C4-02030A6B2F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2501900"/>
            <a:ext cx="3790950" cy="140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9" descr="http://www.personal-finance-insights.com/image-files/family_bank-logo.gif">
            <a:extLst>
              <a:ext uri="{FF2B5EF4-FFF2-40B4-BE49-F238E27FC236}">
                <a16:creationId xmlns:a16="http://schemas.microsoft.com/office/drawing/2014/main" id="{60F02419-6C48-00AA-99DE-656AF96D4F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0463" y="4868863"/>
            <a:ext cx="3810000" cy="14287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090DA4A6-35D6-BF8E-4649-4F5606294BD9}"/>
              </a:ext>
            </a:extLst>
          </p:cNvPr>
          <p:cNvSpPr/>
          <p:nvPr/>
        </p:nvSpPr>
        <p:spPr>
          <a:xfrm>
            <a:off x="1588" y="2205038"/>
            <a:ext cx="9142412" cy="44450"/>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13319" name="Object 1">
            <a:extLst>
              <a:ext uri="{FF2B5EF4-FFF2-40B4-BE49-F238E27FC236}">
                <a16:creationId xmlns:a16="http://schemas.microsoft.com/office/drawing/2014/main" id="{26A795E3-8922-14F4-0FCC-C95285438E40}"/>
              </a:ext>
            </a:extLst>
          </p:cNvPr>
          <p:cNvGraphicFramePr>
            <a:graphicFrameLocks noChangeAspect="1"/>
          </p:cNvGraphicFramePr>
          <p:nvPr/>
        </p:nvGraphicFramePr>
        <p:xfrm>
          <a:off x="6227763" y="204788"/>
          <a:ext cx="2679700" cy="2000250"/>
        </p:xfrm>
        <a:graphic>
          <a:graphicData uri="http://schemas.openxmlformats.org/presentationml/2006/ole">
            <mc:AlternateContent xmlns:mc="http://schemas.openxmlformats.org/markup-compatibility/2006">
              <mc:Choice xmlns:v="urn:schemas-microsoft-com:vml" Requires="v">
                <p:oleObj name="Acrobat Document" r:id="rId5" imgW="10695600" imgH="7558200" progId="AcroExch.Document.11">
                  <p:embed/>
                </p:oleObj>
              </mc:Choice>
              <mc:Fallback>
                <p:oleObj name="Acrobat Document" r:id="rId5" imgW="10695600" imgH="7558200" progId="AcroExch.Document.11">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7763" y="204788"/>
                        <a:ext cx="26797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3320" name="Picture 1">
            <a:extLst>
              <a:ext uri="{FF2B5EF4-FFF2-40B4-BE49-F238E27FC236}">
                <a16:creationId xmlns:a16="http://schemas.microsoft.com/office/drawing/2014/main" id="{661327A7-CF96-AC5B-2AC6-13E9F124374B}"/>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28638" y="5445125"/>
            <a:ext cx="32861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2">
            <a:extLst>
              <a:ext uri="{FF2B5EF4-FFF2-40B4-BE49-F238E27FC236}">
                <a16:creationId xmlns:a16="http://schemas.microsoft.com/office/drawing/2014/main" id="{40A77CFF-F2EB-8328-59B3-9B36F808F44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85800" y="3394075"/>
            <a:ext cx="297180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C85641F2-2655-19D5-23E0-AE61222101C1}"/>
              </a:ext>
            </a:extLst>
          </p:cNvPr>
          <p:cNvSpPr>
            <a:spLocks noGrp="1"/>
          </p:cNvSpPr>
          <p:nvPr>
            <p:ph type="title"/>
          </p:nvPr>
        </p:nvSpPr>
        <p:spPr>
          <a:xfrm>
            <a:off x="214313" y="785813"/>
            <a:ext cx="3643312" cy="1143000"/>
          </a:xfrm>
        </p:spPr>
        <p:txBody>
          <a:bodyPr/>
          <a:lstStyle/>
          <a:p>
            <a:br>
              <a:rPr lang="en-US" altLang="en-US" sz="3200">
                <a:solidFill>
                  <a:srgbClr val="0070C0"/>
                </a:solidFill>
                <a:ea typeface="ＭＳ Ｐゴシック" panose="020B0600070205080204" pitchFamily="34" charset="-128"/>
              </a:rPr>
            </a:br>
            <a:br>
              <a:rPr lang="en-US" altLang="en-US" sz="3200">
                <a:solidFill>
                  <a:srgbClr val="0070C0"/>
                </a:solidFill>
                <a:ea typeface="ＭＳ Ｐゴシック" panose="020B0600070205080204" pitchFamily="34" charset="-128"/>
              </a:rPr>
            </a:br>
            <a:br>
              <a:rPr lang="en-US" altLang="en-US" sz="3200">
                <a:solidFill>
                  <a:srgbClr val="0070C0"/>
                </a:solidFill>
                <a:ea typeface="ＭＳ Ｐゴシック" panose="020B0600070205080204" pitchFamily="34" charset="-128"/>
              </a:rPr>
            </a:br>
            <a:br>
              <a:rPr lang="en-US" altLang="en-US" sz="3200">
                <a:solidFill>
                  <a:srgbClr val="0070C0"/>
                </a:solidFill>
                <a:ea typeface="ＭＳ Ｐゴシック" panose="020B0600070205080204" pitchFamily="34" charset="-128"/>
              </a:rPr>
            </a:br>
            <a:br>
              <a:rPr lang="en-US" altLang="en-US" sz="3200">
                <a:solidFill>
                  <a:srgbClr val="0070C0"/>
                </a:solidFill>
                <a:ea typeface="ＭＳ Ｐゴシック" panose="020B0600070205080204" pitchFamily="34" charset="-128"/>
              </a:rPr>
            </a:br>
            <a:r>
              <a:rPr lang="en-US" altLang="en-US" sz="2800">
                <a:solidFill>
                  <a:srgbClr val="0070C0"/>
                </a:solidFill>
                <a:ea typeface="ＭＳ Ｐゴシック" panose="020B0600070205080204" pitchFamily="34" charset="-128"/>
              </a:rPr>
              <a:t>Corporate Clients</a:t>
            </a:r>
          </a:p>
        </p:txBody>
      </p:sp>
      <p:sp>
        <p:nvSpPr>
          <p:cNvPr id="15363" name="Content Placeholder 2">
            <a:extLst>
              <a:ext uri="{FF2B5EF4-FFF2-40B4-BE49-F238E27FC236}">
                <a16:creationId xmlns:a16="http://schemas.microsoft.com/office/drawing/2014/main" id="{3F0997BB-ED26-D78E-0BC6-B99EFF48B710}"/>
              </a:ext>
            </a:extLst>
          </p:cNvPr>
          <p:cNvSpPr>
            <a:spLocks noGrp="1"/>
          </p:cNvSpPr>
          <p:nvPr>
            <p:ph idx="1"/>
          </p:nvPr>
        </p:nvSpPr>
        <p:spPr>
          <a:xfrm>
            <a:off x="611188" y="2781300"/>
            <a:ext cx="8229600" cy="5715000"/>
          </a:xfrm>
        </p:spPr>
        <p:txBody>
          <a:bodyPr/>
          <a:lstStyle/>
          <a:p>
            <a:r>
              <a:rPr lang="en-US" altLang="en-US" sz="1600" i="1">
                <a:solidFill>
                  <a:srgbClr val="92D050"/>
                </a:solidFill>
                <a:ea typeface="ＭＳ Ｐゴシック" panose="020B0600070205080204" pitchFamily="34" charset="-128"/>
              </a:rPr>
              <a:t>Catesam Enterprises Limited</a:t>
            </a:r>
          </a:p>
          <a:p>
            <a:r>
              <a:rPr lang="en-US" altLang="en-US" sz="1600" i="1">
                <a:solidFill>
                  <a:srgbClr val="92D050"/>
                </a:solidFill>
                <a:ea typeface="ＭＳ Ｐゴシック" panose="020B0600070205080204" pitchFamily="34" charset="-128"/>
              </a:rPr>
              <a:t>Co-operative  bank  of  Kenya</a:t>
            </a:r>
          </a:p>
          <a:p>
            <a:r>
              <a:rPr lang="en-US" altLang="en-US" sz="1600" i="1">
                <a:solidFill>
                  <a:srgbClr val="92D050"/>
                </a:solidFill>
                <a:ea typeface="ＭＳ Ｐゴシック" panose="020B0600070205080204" pitchFamily="34" charset="-128"/>
              </a:rPr>
              <a:t>Kingdom Bank</a:t>
            </a:r>
          </a:p>
          <a:p>
            <a:r>
              <a:rPr lang="en-US" altLang="en-US" sz="1600" i="1">
                <a:solidFill>
                  <a:srgbClr val="00B0F0"/>
                </a:solidFill>
                <a:ea typeface="ＭＳ Ｐゴシック" panose="020B0600070205080204" pitchFamily="34" charset="-128"/>
              </a:rPr>
              <a:t>Family  Bank Limited</a:t>
            </a:r>
          </a:p>
          <a:p>
            <a:r>
              <a:rPr lang="en-US" altLang="en-US" sz="1600" i="1">
                <a:solidFill>
                  <a:srgbClr val="FF0000"/>
                </a:solidFill>
                <a:ea typeface="ＭＳ Ｐゴシック" panose="020B0600070205080204" pitchFamily="34" charset="-128"/>
              </a:rPr>
              <a:t>Suera Flowers  Limited</a:t>
            </a:r>
          </a:p>
          <a:p>
            <a:r>
              <a:rPr lang="en-US" altLang="en-US" sz="1600" i="1">
                <a:solidFill>
                  <a:srgbClr val="0070C0"/>
                </a:solidFill>
                <a:ea typeface="ＭＳ Ｐゴシック" panose="020B0600070205080204" pitchFamily="34" charset="-128"/>
              </a:rPr>
              <a:t>Jese Holdings Limited</a:t>
            </a:r>
          </a:p>
          <a:p>
            <a:r>
              <a:rPr lang="en-US" altLang="en-US" sz="1600" i="1">
                <a:solidFill>
                  <a:srgbClr val="92D050"/>
                </a:solidFill>
                <a:ea typeface="ＭＳ Ｐゴシック" panose="020B0600070205080204" pitchFamily="34" charset="-128"/>
              </a:rPr>
              <a:t>Karen Holiday Homes</a:t>
            </a:r>
          </a:p>
          <a:p>
            <a:r>
              <a:rPr lang="en-US" altLang="en-US" sz="1600" i="1">
                <a:solidFill>
                  <a:srgbClr val="FF0000"/>
                </a:solidFill>
                <a:ea typeface="ＭＳ Ｐゴシック" panose="020B0600070205080204" pitchFamily="34" charset="-128"/>
              </a:rPr>
              <a:t>Muruga Investments Limited</a:t>
            </a:r>
          </a:p>
          <a:p>
            <a:r>
              <a:rPr lang="en-US" altLang="en-US" sz="1600" i="1">
                <a:solidFill>
                  <a:srgbClr val="0070C0"/>
                </a:solidFill>
                <a:ea typeface="ＭＳ Ｐゴシック" panose="020B0600070205080204" pitchFamily="34" charset="-128"/>
              </a:rPr>
              <a:t>Ciata Holdings Limited</a:t>
            </a:r>
          </a:p>
          <a:p>
            <a:r>
              <a:rPr lang="en-US" altLang="en-US" sz="1600" i="1">
                <a:solidFill>
                  <a:srgbClr val="B42989"/>
                </a:solidFill>
                <a:ea typeface="ＭＳ Ｐゴシック" panose="020B0600070205080204" pitchFamily="34" charset="-128"/>
              </a:rPr>
              <a:t>Clarence House Apartments Limited</a:t>
            </a:r>
          </a:p>
          <a:p>
            <a:r>
              <a:rPr lang="en-US" altLang="en-US" sz="1600" i="1">
                <a:solidFill>
                  <a:srgbClr val="0070C0"/>
                </a:solidFill>
                <a:ea typeface="ＭＳ Ｐゴシック" panose="020B0600070205080204" pitchFamily="34" charset="-128"/>
              </a:rPr>
              <a:t>Heathway Properties Limited</a:t>
            </a:r>
          </a:p>
          <a:p>
            <a:r>
              <a:rPr lang="en-US" altLang="en-US" sz="1600" i="1">
                <a:solidFill>
                  <a:srgbClr val="B12987"/>
                </a:solidFill>
                <a:ea typeface="ＭＳ Ｐゴシック" panose="020B0600070205080204" pitchFamily="34" charset="-128"/>
              </a:rPr>
              <a:t>Miliki Development  Company Limited</a:t>
            </a:r>
          </a:p>
          <a:p>
            <a:r>
              <a:rPr lang="en-US" altLang="en-US" sz="1600" i="1">
                <a:solidFill>
                  <a:srgbClr val="00B0F0"/>
                </a:solidFill>
                <a:ea typeface="ＭＳ Ｐゴシック" panose="020B0600070205080204" pitchFamily="34" charset="-128"/>
              </a:rPr>
              <a:t>Richland Dam Estate</a:t>
            </a:r>
          </a:p>
          <a:p>
            <a:r>
              <a:rPr lang="en-US" altLang="en-US" sz="1600" i="1">
                <a:solidFill>
                  <a:srgbClr val="00B050"/>
                </a:solidFill>
                <a:ea typeface="ＭＳ Ｐゴシック" panose="020B0600070205080204" pitchFamily="34" charset="-128"/>
              </a:rPr>
              <a:t>Ngoingwa Company Limited</a:t>
            </a:r>
          </a:p>
        </p:txBody>
      </p:sp>
      <p:sp>
        <p:nvSpPr>
          <p:cNvPr id="7" name="Rectangle 6">
            <a:extLst>
              <a:ext uri="{FF2B5EF4-FFF2-40B4-BE49-F238E27FC236}">
                <a16:creationId xmlns:a16="http://schemas.microsoft.com/office/drawing/2014/main" id="{5FE9B111-7BB3-113B-327C-4CDBB073B963}"/>
              </a:ext>
            </a:extLst>
          </p:cNvPr>
          <p:cNvSpPr/>
          <p:nvPr/>
        </p:nvSpPr>
        <p:spPr>
          <a:xfrm>
            <a:off x="-17463" y="2276475"/>
            <a:ext cx="9142413" cy="46038"/>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15365" name="Object 1">
            <a:extLst>
              <a:ext uri="{FF2B5EF4-FFF2-40B4-BE49-F238E27FC236}">
                <a16:creationId xmlns:a16="http://schemas.microsoft.com/office/drawing/2014/main" id="{6112C8D7-4495-32F4-6D7A-29F334DDB28D}"/>
              </a:ext>
            </a:extLst>
          </p:cNvPr>
          <p:cNvGraphicFramePr>
            <a:graphicFrameLocks noChangeAspect="1"/>
          </p:cNvGraphicFramePr>
          <p:nvPr/>
        </p:nvGraphicFramePr>
        <p:xfrm>
          <a:off x="5835650" y="26988"/>
          <a:ext cx="3289300" cy="2249487"/>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5650" y="26988"/>
                        <a:ext cx="3289300" cy="224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5">
            <a:extLst>
              <a:ext uri="{FF2B5EF4-FFF2-40B4-BE49-F238E27FC236}">
                <a16:creationId xmlns:a16="http://schemas.microsoft.com/office/drawing/2014/main" id="{1E37EC98-E55D-72C8-69FA-B8D20A7A554A}"/>
              </a:ext>
            </a:extLst>
          </p:cNvPr>
          <p:cNvSpPr txBox="1">
            <a:spLocks noChangeArrowheads="1"/>
          </p:cNvSpPr>
          <p:nvPr/>
        </p:nvSpPr>
        <p:spPr bwMode="auto">
          <a:xfrm>
            <a:off x="685800" y="25146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16387" name="TextBox 19">
            <a:extLst>
              <a:ext uri="{FF2B5EF4-FFF2-40B4-BE49-F238E27FC236}">
                <a16:creationId xmlns:a16="http://schemas.microsoft.com/office/drawing/2014/main" id="{D2CABCC1-093B-4E7F-7810-FBE2700FBB25}"/>
              </a:ext>
            </a:extLst>
          </p:cNvPr>
          <p:cNvSpPr txBox="1">
            <a:spLocks noChangeArrowheads="1"/>
          </p:cNvSpPr>
          <p:nvPr/>
        </p:nvSpPr>
        <p:spPr bwMode="auto">
          <a:xfrm>
            <a:off x="395288" y="2884488"/>
            <a:ext cx="3406775"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150000"/>
              </a:lnSpc>
              <a:spcBef>
                <a:spcPct val="0"/>
              </a:spcBef>
              <a:buFontTx/>
              <a:buNone/>
            </a:pPr>
            <a:endParaRPr lang="en-GB" altLang="en-US" sz="1600">
              <a:latin typeface="Trebuchet MS" panose="020B0603020202020204" pitchFamily="34" charset="0"/>
              <a:cs typeface="Arial" panose="020B0604020202020204" pitchFamily="34" charset="0"/>
            </a:endParaRPr>
          </a:p>
          <a:p>
            <a:pPr eaLnBrk="1" hangingPunct="1">
              <a:lnSpc>
                <a:spcPct val="150000"/>
              </a:lnSpc>
              <a:spcBef>
                <a:spcPct val="0"/>
              </a:spcBef>
            </a:pPr>
            <a:r>
              <a:rPr lang="en-GB" altLang="en-US" sz="1600">
                <a:latin typeface="Trebuchet MS" panose="020B0603020202020204" pitchFamily="34" charset="0"/>
                <a:cs typeface="Arial" panose="020B0604020202020204" pitchFamily="34" charset="0"/>
              </a:rPr>
              <a:t>Kenya Episcopal Conference (Catholic)</a:t>
            </a:r>
          </a:p>
          <a:p>
            <a:pPr eaLnBrk="1" hangingPunct="1">
              <a:lnSpc>
                <a:spcPct val="150000"/>
              </a:lnSpc>
              <a:spcBef>
                <a:spcPct val="0"/>
              </a:spcBef>
              <a:buFontTx/>
              <a:buNone/>
            </a:pPr>
            <a:endParaRPr lang="en-GB" altLang="en-US" sz="1600">
              <a:latin typeface="Trebuchet MS" panose="020B0603020202020204" pitchFamily="34" charset="0"/>
              <a:cs typeface="Arial" panose="020B0604020202020204" pitchFamily="34" charset="0"/>
            </a:endParaRPr>
          </a:p>
          <a:p>
            <a:pPr eaLnBrk="1" hangingPunct="1">
              <a:lnSpc>
                <a:spcPct val="150000"/>
              </a:lnSpc>
              <a:spcBef>
                <a:spcPct val="0"/>
              </a:spcBef>
            </a:pPr>
            <a:r>
              <a:rPr lang="en-GB" altLang="en-US" sz="1600">
                <a:latin typeface="Trebuchet MS" panose="020B0603020202020204" pitchFamily="34" charset="0"/>
                <a:cs typeface="Arial" panose="020B0604020202020204" pitchFamily="34" charset="0"/>
              </a:rPr>
              <a:t>Association of Member Episcopal Conferences of Eastern Africa (AMECEA- Catholic)</a:t>
            </a:r>
          </a:p>
          <a:p>
            <a:pPr eaLnBrk="1" hangingPunct="1">
              <a:lnSpc>
                <a:spcPct val="150000"/>
              </a:lnSpc>
              <a:spcBef>
                <a:spcPct val="0"/>
              </a:spcBef>
              <a:buFontTx/>
              <a:buNone/>
            </a:pPr>
            <a:endParaRPr lang="en-GB" altLang="en-US" sz="1600">
              <a:latin typeface="Trebuchet MS" panose="020B0603020202020204" pitchFamily="34" charset="0"/>
              <a:cs typeface="Arial" panose="020B0604020202020204" pitchFamily="34" charset="0"/>
            </a:endParaRPr>
          </a:p>
          <a:p>
            <a:pPr eaLnBrk="1" hangingPunct="1">
              <a:lnSpc>
                <a:spcPct val="150000"/>
              </a:lnSpc>
              <a:spcBef>
                <a:spcPct val="0"/>
              </a:spcBef>
              <a:buFontTx/>
              <a:buNone/>
            </a:pPr>
            <a:endParaRPr lang="en-GB" altLang="en-US" sz="1600">
              <a:latin typeface="Trebuchet MS" panose="020B0603020202020204" pitchFamily="34" charset="0"/>
              <a:cs typeface="Arial" panose="020B0604020202020204" pitchFamily="34" charset="0"/>
            </a:endParaRPr>
          </a:p>
          <a:p>
            <a:pPr eaLnBrk="1" hangingPunct="1">
              <a:lnSpc>
                <a:spcPct val="150000"/>
              </a:lnSpc>
              <a:spcBef>
                <a:spcPct val="0"/>
              </a:spcBef>
            </a:pPr>
            <a:r>
              <a:rPr lang="en-GB" altLang="en-US" sz="1600" b="1">
                <a:latin typeface="Trebuchet MS" panose="020B0603020202020204" pitchFamily="34" charset="0"/>
                <a:cs typeface="Arial" panose="020B0604020202020204" pitchFamily="34" charset="0"/>
              </a:rPr>
              <a:t>Koinoina Community</a:t>
            </a:r>
          </a:p>
          <a:p>
            <a:pPr eaLnBrk="1" hangingPunct="1">
              <a:spcBef>
                <a:spcPct val="0"/>
              </a:spcBef>
              <a:buFontTx/>
              <a:buNone/>
            </a:pPr>
            <a:endParaRPr lang="en-US" altLang="en-US" sz="1600">
              <a:latin typeface="Trebuchet MS" panose="020B0603020202020204" pitchFamily="34" charset="0"/>
              <a:cs typeface="Arial" panose="020B0604020202020204" pitchFamily="34" charset="0"/>
            </a:endParaRPr>
          </a:p>
        </p:txBody>
      </p:sp>
      <p:sp>
        <p:nvSpPr>
          <p:cNvPr id="16388" name="TextBox 21">
            <a:extLst>
              <a:ext uri="{FF2B5EF4-FFF2-40B4-BE49-F238E27FC236}">
                <a16:creationId xmlns:a16="http://schemas.microsoft.com/office/drawing/2014/main" id="{0029F9AB-6B64-1E25-6B11-2B92E8493435}"/>
              </a:ext>
            </a:extLst>
          </p:cNvPr>
          <p:cNvSpPr txBox="1">
            <a:spLocks noChangeArrowheads="1"/>
          </p:cNvSpPr>
          <p:nvPr/>
        </p:nvSpPr>
        <p:spPr bwMode="auto">
          <a:xfrm>
            <a:off x="5183188" y="2514600"/>
            <a:ext cx="38862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80000"/>
              </a:lnSpc>
              <a:spcBef>
                <a:spcPct val="0"/>
              </a:spcBef>
              <a:buFontTx/>
              <a:buNone/>
            </a:pPr>
            <a:endParaRPr lang="en-GB" altLang="en-US" sz="1600" i="1">
              <a:latin typeface="Trebuchet MS" panose="020B0603020202020204" pitchFamily="34" charset="0"/>
              <a:cs typeface="Arial" panose="020B0604020202020204" pitchFamily="34" charset="0"/>
            </a:endParaRPr>
          </a:p>
          <a:p>
            <a:pPr eaLnBrk="1" hangingPunct="1">
              <a:lnSpc>
                <a:spcPct val="80000"/>
              </a:lnSpc>
              <a:spcBef>
                <a:spcPct val="0"/>
              </a:spcBef>
              <a:buFontTx/>
              <a:buNone/>
            </a:pPr>
            <a:endParaRPr lang="en-GB" altLang="en-US" sz="1600" i="1">
              <a:latin typeface="Trebuchet MS" panose="020B0603020202020204" pitchFamily="34" charset="0"/>
              <a:cs typeface="Arial" panose="020B0604020202020204" pitchFamily="34" charset="0"/>
            </a:endParaRPr>
          </a:p>
          <a:p>
            <a:pPr eaLnBrk="1" hangingPunct="1">
              <a:lnSpc>
                <a:spcPct val="80000"/>
              </a:lnSpc>
              <a:spcBef>
                <a:spcPct val="0"/>
              </a:spcBef>
              <a:buFontTx/>
              <a:buNone/>
            </a:pPr>
            <a:endParaRPr lang="en-US" altLang="en-US" sz="1600" i="1">
              <a:latin typeface="Trebuchet MS" panose="020B0603020202020204" pitchFamily="34" charset="0"/>
              <a:cs typeface="Arial" panose="020B0604020202020204" pitchFamily="34" charset="0"/>
            </a:endParaRPr>
          </a:p>
        </p:txBody>
      </p:sp>
      <p:sp>
        <p:nvSpPr>
          <p:cNvPr id="16389" name="Title 1">
            <a:extLst>
              <a:ext uri="{FF2B5EF4-FFF2-40B4-BE49-F238E27FC236}">
                <a16:creationId xmlns:a16="http://schemas.microsoft.com/office/drawing/2014/main" id="{B88CAE2C-3D7E-FCA8-39ED-14F46A33F8EE}"/>
              </a:ext>
            </a:extLst>
          </p:cNvPr>
          <p:cNvSpPr txBox="1">
            <a:spLocks/>
          </p:cNvSpPr>
          <p:nvPr/>
        </p:nvSpPr>
        <p:spPr bwMode="auto">
          <a:xfrm>
            <a:off x="0" y="1400175"/>
            <a:ext cx="69850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sz="24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4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0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0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0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0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sz="2000">
                <a:solidFill>
                  <a:srgbClr val="0070C0"/>
                </a:solidFill>
                <a:latin typeface="Trebuchet MS" panose="020B0603020202020204" pitchFamily="34" charset="0"/>
                <a:cs typeface="Arial" panose="020B0604020202020204" pitchFamily="34" charset="0"/>
              </a:rPr>
              <a:t>Faith-Based Organizations (FBOs</a:t>
            </a:r>
            <a:r>
              <a:rPr lang="en-GB" altLang="en-US" sz="2000">
                <a:solidFill>
                  <a:srgbClr val="00B0F0"/>
                </a:solidFill>
                <a:latin typeface="Trebuchet MS" panose="020B0603020202020204" pitchFamily="34" charset="0"/>
                <a:cs typeface="Arial" panose="020B0604020202020204" pitchFamily="34" charset="0"/>
              </a:rPr>
              <a:t>)</a:t>
            </a:r>
          </a:p>
        </p:txBody>
      </p:sp>
      <p:cxnSp>
        <p:nvCxnSpPr>
          <p:cNvPr id="16390" name="Straight Connector 15">
            <a:extLst>
              <a:ext uri="{FF2B5EF4-FFF2-40B4-BE49-F238E27FC236}">
                <a16:creationId xmlns:a16="http://schemas.microsoft.com/office/drawing/2014/main" id="{25A33859-2AFD-5C10-7141-95A303C5EDB3}"/>
              </a:ext>
            </a:extLst>
          </p:cNvPr>
          <p:cNvCxnSpPr>
            <a:cxnSpLocks noChangeShapeType="1"/>
          </p:cNvCxnSpPr>
          <p:nvPr/>
        </p:nvCxnSpPr>
        <p:spPr bwMode="auto">
          <a:xfrm rot="5400000">
            <a:off x="2166144" y="4563269"/>
            <a:ext cx="4706938" cy="0"/>
          </a:xfrm>
          <a:prstGeom prst="line">
            <a:avLst/>
          </a:prstGeom>
          <a:noFill/>
          <a:ln w="12700">
            <a:solidFill>
              <a:schemeClr val="tx1"/>
            </a:solidFill>
            <a:prstDash val="sysDot"/>
            <a:round/>
            <a:headEnd/>
            <a:tailEnd/>
          </a:ln>
          <a:effectLst>
            <a:outerShdw dist="23000" dir="5400000" rotWithShape="0">
              <a:srgbClr val="808080">
                <a:alpha val="34998"/>
              </a:srgbClr>
            </a:outerShdw>
          </a:effectLst>
          <a:extLst>
            <a:ext uri="{909E8E84-426E-40DD-AFC4-6F175D3DCCD1}">
              <a14:hiddenFill xmlns:a14="http://schemas.microsoft.com/office/drawing/2010/main">
                <a:noFill/>
              </a14:hiddenFill>
            </a:ext>
          </a:extLst>
        </p:spPr>
      </p:cxnSp>
      <p:pic>
        <p:nvPicPr>
          <p:cNvPr id="16391" name="Picture 9" descr="http://profile.ak.fbcdn.net/hprofile-ak-snc4/211192_210279642346091_3241840_n.jpg">
            <a:extLst>
              <a:ext uri="{FF2B5EF4-FFF2-40B4-BE49-F238E27FC236}">
                <a16:creationId xmlns:a16="http://schemas.microsoft.com/office/drawing/2014/main" id="{ECF394D1-3AA2-15A4-90F7-D1E0C964C0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1088" y="2559050"/>
            <a:ext cx="1589087"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2" name="Picture 11" descr="http://www.cjpckenya.org/userfiles/AMECEA(2).jpg">
            <a:extLst>
              <a:ext uri="{FF2B5EF4-FFF2-40B4-BE49-F238E27FC236}">
                <a16:creationId xmlns:a16="http://schemas.microsoft.com/office/drawing/2014/main" id="{BE69B615-4450-A81A-5BEB-717D1C9DE5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5338" y="4292600"/>
            <a:ext cx="38766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a:extLst>
              <a:ext uri="{FF2B5EF4-FFF2-40B4-BE49-F238E27FC236}">
                <a16:creationId xmlns:a16="http://schemas.microsoft.com/office/drawing/2014/main" id="{D5615C99-BB6B-0D94-1865-5BEEC297E735}"/>
              </a:ext>
            </a:extLst>
          </p:cNvPr>
          <p:cNvSpPr/>
          <p:nvPr/>
        </p:nvSpPr>
        <p:spPr>
          <a:xfrm>
            <a:off x="0" y="2163763"/>
            <a:ext cx="9142413" cy="46037"/>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pic>
        <p:nvPicPr>
          <p:cNvPr id="16394" name="Picture 11" descr="Home">
            <a:extLst>
              <a:ext uri="{FF2B5EF4-FFF2-40B4-BE49-F238E27FC236}">
                <a16:creationId xmlns:a16="http://schemas.microsoft.com/office/drawing/2014/main" id="{584B1DC8-B495-4A0A-58A7-55C768952D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5300663"/>
            <a:ext cx="1377950" cy="138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395" name="Object 1">
            <a:extLst>
              <a:ext uri="{FF2B5EF4-FFF2-40B4-BE49-F238E27FC236}">
                <a16:creationId xmlns:a16="http://schemas.microsoft.com/office/drawing/2014/main" id="{53E2A3F4-84B7-14F7-DBDA-AE47AD7EB59A}"/>
              </a:ext>
            </a:extLst>
          </p:cNvPr>
          <p:cNvGraphicFramePr>
            <a:graphicFrameLocks noChangeAspect="1"/>
          </p:cNvGraphicFramePr>
          <p:nvPr/>
        </p:nvGraphicFramePr>
        <p:xfrm>
          <a:off x="6480175" y="63500"/>
          <a:ext cx="2413000" cy="2100263"/>
        </p:xfrm>
        <a:graphic>
          <a:graphicData uri="http://schemas.openxmlformats.org/presentationml/2006/ole">
            <mc:AlternateContent xmlns:mc="http://schemas.openxmlformats.org/markup-compatibility/2006">
              <mc:Choice xmlns:v="urn:schemas-microsoft-com:vml" Requires="v">
                <p:oleObj name="Acrobat Document" r:id="rId5" imgW="10695600" imgH="7558200" progId="AcroExch.Document.11">
                  <p:embed/>
                </p:oleObj>
              </mc:Choice>
              <mc:Fallback>
                <p:oleObj name="Acrobat Document" r:id="rId5" imgW="10695600" imgH="7558200" progId="AcroExch.Document.11">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80175" y="63500"/>
                        <a:ext cx="24130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A8B87AD0-971E-2F41-8546-C5788D2A2713}"/>
              </a:ext>
            </a:extLst>
          </p:cNvPr>
          <p:cNvSpPr txBox="1">
            <a:spLocks/>
          </p:cNvSpPr>
          <p:nvPr/>
        </p:nvSpPr>
        <p:spPr bwMode="auto">
          <a:xfrm>
            <a:off x="214313" y="1620838"/>
            <a:ext cx="698500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sz="2800">
                <a:solidFill>
                  <a:srgbClr val="0070C0"/>
                </a:solidFill>
                <a:latin typeface="Trebuchet MS" panose="020B0603020202020204" pitchFamily="34" charset="0"/>
                <a:cs typeface="Arial" panose="020B0604020202020204" pitchFamily="34" charset="0"/>
              </a:rPr>
              <a:t>Assurance of Quality Service</a:t>
            </a:r>
          </a:p>
          <a:p>
            <a:pPr eaLnBrk="1" hangingPunct="1">
              <a:spcBef>
                <a:spcPct val="0"/>
              </a:spcBef>
              <a:buFontTx/>
              <a:buNone/>
            </a:pPr>
            <a:endParaRPr lang="en-GB" altLang="en-US" sz="2800">
              <a:solidFill>
                <a:srgbClr val="ACC42A"/>
              </a:solidFill>
              <a:latin typeface="Myriad Roman"/>
              <a:cs typeface="Arial" panose="020B0604020202020204" pitchFamily="34" charset="0"/>
            </a:endParaRPr>
          </a:p>
        </p:txBody>
      </p:sp>
      <p:sp>
        <p:nvSpPr>
          <p:cNvPr id="17411" name="Content Placeholder 2">
            <a:extLst>
              <a:ext uri="{FF2B5EF4-FFF2-40B4-BE49-F238E27FC236}">
                <a16:creationId xmlns:a16="http://schemas.microsoft.com/office/drawing/2014/main" id="{FC58A917-F524-D63A-3C48-74943FE08D0B}"/>
              </a:ext>
            </a:extLst>
          </p:cNvPr>
          <p:cNvSpPr txBox="1">
            <a:spLocks/>
          </p:cNvSpPr>
          <p:nvPr/>
        </p:nvSpPr>
        <p:spPr bwMode="auto">
          <a:xfrm>
            <a:off x="533400" y="3716338"/>
            <a:ext cx="7924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just" eaLnBrk="1" hangingPunct="1">
              <a:lnSpc>
                <a:spcPct val="150000"/>
              </a:lnSpc>
              <a:spcBef>
                <a:spcPct val="0"/>
              </a:spcBef>
            </a:pPr>
            <a:r>
              <a:rPr lang="en-GB" altLang="en-US" sz="1600">
                <a:latin typeface="Trebuchet MS" panose="020B0603020202020204" pitchFamily="34" charset="0"/>
                <a:cs typeface="Arial" panose="020B0604020202020204" pitchFamily="34" charset="0"/>
              </a:rPr>
              <a:t>In line with the firm’s mission of providing high quality services that guarantee value for money, we have established a Client Services Supervision (CSS) department that is responsible for maintaining close liaisons with the clients. The department deals with clients complaints on service delivery or quality and attends to service request from clients.</a:t>
            </a:r>
          </a:p>
          <a:p>
            <a:pPr algn="just" eaLnBrk="1" hangingPunct="1">
              <a:lnSpc>
                <a:spcPct val="150000"/>
              </a:lnSpc>
              <a:spcBef>
                <a:spcPct val="0"/>
              </a:spcBef>
            </a:pPr>
            <a:endParaRPr lang="en-GB" altLang="en-US" sz="1600">
              <a:latin typeface="Trebuchet MS" panose="020B0603020202020204" pitchFamily="34" charset="0"/>
              <a:cs typeface="Arial" panose="020B0604020202020204" pitchFamily="34" charset="0"/>
            </a:endParaRPr>
          </a:p>
          <a:p>
            <a:pPr algn="just" eaLnBrk="1" hangingPunct="1">
              <a:lnSpc>
                <a:spcPct val="150000"/>
              </a:lnSpc>
              <a:spcBef>
                <a:spcPct val="0"/>
              </a:spcBef>
            </a:pPr>
            <a:r>
              <a:rPr lang="en-GB" altLang="en-US" sz="1600">
                <a:latin typeface="Trebuchet MS" panose="020B0603020202020204" pitchFamily="34" charset="0"/>
                <a:cs typeface="Arial" panose="020B0604020202020204" pitchFamily="34" charset="0"/>
              </a:rPr>
              <a:t>The firm has a well-stocked legal library to assist partners and professional legal staff in the performance of their work.</a:t>
            </a:r>
            <a:endParaRPr lang="en-US" altLang="en-US" sz="1600">
              <a:latin typeface="Trebuchet MS" panose="020B0603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01BDC412-36F2-DDFF-F70F-D5F7C159EE95}"/>
              </a:ext>
            </a:extLst>
          </p:cNvPr>
          <p:cNvSpPr/>
          <p:nvPr/>
        </p:nvSpPr>
        <p:spPr>
          <a:xfrm>
            <a:off x="-11113" y="2720975"/>
            <a:ext cx="9142413" cy="46038"/>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17413" name="Object 1">
            <a:extLst>
              <a:ext uri="{FF2B5EF4-FFF2-40B4-BE49-F238E27FC236}">
                <a16:creationId xmlns:a16="http://schemas.microsoft.com/office/drawing/2014/main" id="{BDBB19B0-5386-81AC-F6FB-F59609FF7520}"/>
              </a:ext>
            </a:extLst>
          </p:cNvPr>
          <p:cNvGraphicFramePr>
            <a:graphicFrameLocks noChangeAspect="1"/>
          </p:cNvGraphicFramePr>
          <p:nvPr/>
        </p:nvGraphicFramePr>
        <p:xfrm>
          <a:off x="6011863" y="109538"/>
          <a:ext cx="2832100" cy="2487612"/>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863" y="109538"/>
                        <a:ext cx="2832100" cy="248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C37C9372-F07C-ED54-3413-C01E7C453B2B}"/>
              </a:ext>
            </a:extLst>
          </p:cNvPr>
          <p:cNvSpPr txBox="1">
            <a:spLocks/>
          </p:cNvSpPr>
          <p:nvPr/>
        </p:nvSpPr>
        <p:spPr bwMode="auto">
          <a:xfrm>
            <a:off x="533400" y="1477963"/>
            <a:ext cx="698500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sz="2800">
                <a:solidFill>
                  <a:srgbClr val="0070C0"/>
                </a:solidFill>
                <a:latin typeface="Trebuchet MS" panose="020B0603020202020204" pitchFamily="34" charset="0"/>
                <a:cs typeface="Arial" panose="020B0604020202020204" pitchFamily="34" charset="0"/>
              </a:rPr>
              <a:t>Confidentiality Pledge</a:t>
            </a:r>
          </a:p>
          <a:p>
            <a:pPr eaLnBrk="1" hangingPunct="1">
              <a:spcBef>
                <a:spcPct val="0"/>
              </a:spcBef>
              <a:buFontTx/>
              <a:buNone/>
            </a:pPr>
            <a:endParaRPr lang="en-GB" altLang="en-US" sz="1800">
              <a:solidFill>
                <a:srgbClr val="ACC42A"/>
              </a:solidFill>
              <a:latin typeface="Myriad Roman"/>
              <a:cs typeface="Arial" panose="020B0604020202020204" pitchFamily="34" charset="0"/>
            </a:endParaRPr>
          </a:p>
        </p:txBody>
      </p:sp>
      <p:sp>
        <p:nvSpPr>
          <p:cNvPr id="18435" name="Content Placeholder 2">
            <a:extLst>
              <a:ext uri="{FF2B5EF4-FFF2-40B4-BE49-F238E27FC236}">
                <a16:creationId xmlns:a16="http://schemas.microsoft.com/office/drawing/2014/main" id="{EE7BB971-9DF7-C0AC-7C7A-A58A15CA8BCF}"/>
              </a:ext>
            </a:extLst>
          </p:cNvPr>
          <p:cNvSpPr txBox="1">
            <a:spLocks/>
          </p:cNvSpPr>
          <p:nvPr/>
        </p:nvSpPr>
        <p:spPr bwMode="auto">
          <a:xfrm>
            <a:off x="725488" y="2708275"/>
            <a:ext cx="76962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150000"/>
              </a:lnSpc>
              <a:spcBef>
                <a:spcPct val="0"/>
              </a:spcBef>
              <a:buFontTx/>
              <a:buNone/>
            </a:pPr>
            <a:endParaRPr lang="en-GB" altLang="en-US" sz="1800" b="1">
              <a:solidFill>
                <a:srgbClr val="1B1810"/>
              </a:solidFill>
              <a:latin typeface="Trebuchet MS" panose="020B0603020202020204" pitchFamily="34" charset="0"/>
              <a:cs typeface="Arial" panose="020B0604020202020204" pitchFamily="34" charset="0"/>
            </a:endParaRPr>
          </a:p>
          <a:p>
            <a:pPr eaLnBrk="1" hangingPunct="1">
              <a:lnSpc>
                <a:spcPct val="150000"/>
              </a:lnSpc>
              <a:spcBef>
                <a:spcPct val="0"/>
              </a:spcBef>
              <a:buFontTx/>
              <a:buNone/>
            </a:pPr>
            <a:endParaRPr lang="en-GB" altLang="en-US" sz="1800" b="1">
              <a:solidFill>
                <a:srgbClr val="1B1810"/>
              </a:solidFill>
              <a:latin typeface="Trebuchet MS" panose="020B0603020202020204" pitchFamily="34" charset="0"/>
              <a:cs typeface="Arial" panose="020B0604020202020204" pitchFamily="34" charset="0"/>
            </a:endParaRPr>
          </a:p>
          <a:p>
            <a:pPr eaLnBrk="1" hangingPunct="1">
              <a:lnSpc>
                <a:spcPct val="150000"/>
              </a:lnSpc>
              <a:spcBef>
                <a:spcPct val="0"/>
              </a:spcBef>
              <a:buFontTx/>
              <a:buNone/>
            </a:pPr>
            <a:r>
              <a:rPr lang="en-GB" altLang="en-US" sz="1800" b="1">
                <a:solidFill>
                  <a:srgbClr val="1B1810"/>
                </a:solidFill>
                <a:latin typeface="Trebuchet MS" panose="020B0603020202020204" pitchFamily="34" charset="0"/>
                <a:cs typeface="Arial" panose="020B0604020202020204" pitchFamily="34" charset="0"/>
              </a:rPr>
              <a:t>We</a:t>
            </a:r>
            <a:r>
              <a:rPr lang="en-GB" altLang="en-US" sz="1800" b="1">
                <a:solidFill>
                  <a:srgbClr val="B42989"/>
                </a:solidFill>
                <a:latin typeface="Trebuchet MS" panose="020B0603020202020204" pitchFamily="34" charset="0"/>
                <a:cs typeface="Arial" panose="020B0604020202020204" pitchFamily="34" charset="0"/>
              </a:rPr>
              <a:t> promise </a:t>
            </a:r>
            <a:r>
              <a:rPr lang="en-GB" altLang="en-US" sz="1800" b="1">
                <a:solidFill>
                  <a:srgbClr val="1B1810"/>
                </a:solidFill>
                <a:latin typeface="Trebuchet MS" panose="020B0603020202020204" pitchFamily="34" charset="0"/>
                <a:cs typeface="Arial" panose="020B0604020202020204" pitchFamily="34" charset="0"/>
              </a:rPr>
              <a:t>to…</a:t>
            </a:r>
          </a:p>
          <a:p>
            <a:pPr eaLnBrk="1" hangingPunct="1">
              <a:lnSpc>
                <a:spcPct val="150000"/>
              </a:lnSpc>
              <a:spcBef>
                <a:spcPct val="0"/>
              </a:spcBef>
              <a:buFontTx/>
              <a:buNone/>
            </a:pPr>
            <a:endParaRPr lang="en-GB" altLang="en-US" sz="1800" b="1">
              <a:solidFill>
                <a:srgbClr val="1B1810"/>
              </a:solidFill>
              <a:latin typeface="Trebuchet MS" panose="020B0603020202020204" pitchFamily="34" charset="0"/>
              <a:cs typeface="Arial" panose="020B0604020202020204" pitchFamily="34" charset="0"/>
            </a:endParaRPr>
          </a:p>
          <a:p>
            <a:pPr eaLnBrk="1" hangingPunct="1">
              <a:lnSpc>
                <a:spcPct val="150000"/>
              </a:lnSpc>
              <a:spcBef>
                <a:spcPct val="0"/>
              </a:spcBef>
              <a:buClr>
                <a:srgbClr val="ACC42A"/>
              </a:buClr>
            </a:pPr>
            <a:r>
              <a:rPr lang="en-GB" altLang="en-US" sz="1800">
                <a:latin typeface="Trebuchet MS" panose="020B0603020202020204" pitchFamily="34" charset="0"/>
                <a:cs typeface="Arial" panose="020B0604020202020204" pitchFamily="34" charset="0"/>
              </a:rPr>
              <a:t>Keep strictly confidential all information given by our clients</a:t>
            </a:r>
          </a:p>
          <a:p>
            <a:pPr eaLnBrk="1" hangingPunct="1">
              <a:lnSpc>
                <a:spcPct val="150000"/>
              </a:lnSpc>
              <a:spcBef>
                <a:spcPct val="0"/>
              </a:spcBef>
              <a:buClr>
                <a:srgbClr val="ACC42A"/>
              </a:buClr>
            </a:pPr>
            <a:r>
              <a:rPr lang="en-US" altLang="en-US" sz="1800">
                <a:latin typeface="Trebuchet MS" panose="020B0603020202020204" pitchFamily="34" charset="0"/>
                <a:cs typeface="Arial" panose="020B0604020202020204" pitchFamily="34" charset="0"/>
              </a:rPr>
              <a:t>Use information for the purpose of carrying out clients work.</a:t>
            </a:r>
          </a:p>
          <a:p>
            <a:pPr eaLnBrk="1" hangingPunct="1">
              <a:lnSpc>
                <a:spcPct val="150000"/>
              </a:lnSpc>
              <a:spcBef>
                <a:spcPct val="0"/>
              </a:spcBef>
              <a:buClr>
                <a:srgbClr val="ACC42A"/>
              </a:buClr>
            </a:pPr>
            <a:r>
              <a:rPr lang="en-US" altLang="en-US" sz="1800">
                <a:latin typeface="Trebuchet MS" panose="020B0603020202020204" pitchFamily="34" charset="0"/>
                <a:cs typeface="Arial" panose="020B0604020202020204" pitchFamily="34" charset="0"/>
              </a:rPr>
              <a:t>Keep strictly confidential all workings and results derived from the clients work.</a:t>
            </a:r>
            <a:endParaRPr lang="en-GB" altLang="en-US" sz="1800">
              <a:latin typeface="Trebuchet MS" panose="020B0603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A47175C-12E9-753E-6244-CA7B15E22FE4}"/>
              </a:ext>
            </a:extLst>
          </p:cNvPr>
          <p:cNvSpPr/>
          <p:nvPr/>
        </p:nvSpPr>
        <p:spPr>
          <a:xfrm>
            <a:off x="0" y="2565400"/>
            <a:ext cx="9142413" cy="46038"/>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18437" name="Object 1">
            <a:extLst>
              <a:ext uri="{FF2B5EF4-FFF2-40B4-BE49-F238E27FC236}">
                <a16:creationId xmlns:a16="http://schemas.microsoft.com/office/drawing/2014/main" id="{AD7E9FC8-AE56-1FA0-F391-2FE97610E21B}"/>
              </a:ext>
            </a:extLst>
          </p:cNvPr>
          <p:cNvGraphicFramePr>
            <a:graphicFrameLocks noChangeAspect="1"/>
          </p:cNvGraphicFramePr>
          <p:nvPr/>
        </p:nvGraphicFramePr>
        <p:xfrm>
          <a:off x="5795963" y="0"/>
          <a:ext cx="2928937" cy="2565400"/>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963" y="0"/>
                        <a:ext cx="2928937"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804AD4B8-F312-8C83-BA3C-392C2C8305EF}"/>
              </a:ext>
            </a:extLst>
          </p:cNvPr>
          <p:cNvSpPr txBox="1">
            <a:spLocks/>
          </p:cNvSpPr>
          <p:nvPr/>
        </p:nvSpPr>
        <p:spPr bwMode="auto">
          <a:xfrm>
            <a:off x="533400" y="1714500"/>
            <a:ext cx="698500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a:solidFill>
                  <a:srgbClr val="0070C0"/>
                </a:solidFill>
                <a:latin typeface="Trebuchet MS" panose="020B0603020202020204" pitchFamily="34" charset="0"/>
                <a:cs typeface="Arial" panose="020B0604020202020204" pitchFamily="34" charset="0"/>
              </a:rPr>
              <a:t>Professional Indemnity</a:t>
            </a:r>
          </a:p>
          <a:p>
            <a:pPr eaLnBrk="1" hangingPunct="1">
              <a:spcBef>
                <a:spcPct val="0"/>
              </a:spcBef>
              <a:buFontTx/>
              <a:buNone/>
            </a:pPr>
            <a:endParaRPr lang="en-GB" altLang="en-US" sz="1800">
              <a:solidFill>
                <a:srgbClr val="ACC42A"/>
              </a:solidFill>
              <a:latin typeface="Myriad Roman"/>
              <a:cs typeface="Arial" panose="020B0604020202020204" pitchFamily="34" charset="0"/>
            </a:endParaRPr>
          </a:p>
        </p:txBody>
      </p:sp>
      <p:sp>
        <p:nvSpPr>
          <p:cNvPr id="19459" name="Content Placeholder 2">
            <a:extLst>
              <a:ext uri="{FF2B5EF4-FFF2-40B4-BE49-F238E27FC236}">
                <a16:creationId xmlns:a16="http://schemas.microsoft.com/office/drawing/2014/main" id="{89DB76F6-334E-F464-DFC7-471A3C8E52B1}"/>
              </a:ext>
            </a:extLst>
          </p:cNvPr>
          <p:cNvSpPr txBox="1">
            <a:spLocks/>
          </p:cNvSpPr>
          <p:nvPr/>
        </p:nvSpPr>
        <p:spPr bwMode="auto">
          <a:xfrm>
            <a:off x="527050" y="2852738"/>
            <a:ext cx="7391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just" eaLnBrk="1" hangingPunct="1">
              <a:lnSpc>
                <a:spcPct val="150000"/>
              </a:lnSpc>
              <a:spcBef>
                <a:spcPct val="0"/>
              </a:spcBef>
              <a:buFontTx/>
              <a:buNone/>
            </a:pPr>
            <a:endParaRPr lang="en-US" altLang="en-US" sz="2000">
              <a:solidFill>
                <a:srgbClr val="0070C0"/>
              </a:solidFill>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endParaRPr lang="en-US" altLang="en-US" sz="2000">
              <a:solidFill>
                <a:srgbClr val="0070C0"/>
              </a:solidFill>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r>
              <a:rPr lang="en-US" altLang="en-US" sz="2000">
                <a:solidFill>
                  <a:srgbClr val="0070C0"/>
                </a:solidFill>
                <a:latin typeface="Trebuchet MS" panose="020B0603020202020204" pitchFamily="34" charset="0"/>
                <a:cs typeface="Arial" panose="020B0604020202020204" pitchFamily="34" charset="0"/>
              </a:rPr>
              <a:t>C.N. Karanja &amp; Associates Advocates </a:t>
            </a:r>
            <a:r>
              <a:rPr lang="en-US" altLang="en-US" sz="2000">
                <a:latin typeface="Trebuchet MS" panose="020B0603020202020204" pitchFamily="34" charset="0"/>
                <a:cs typeface="Arial" panose="020B0604020202020204" pitchFamily="34" charset="0"/>
              </a:rPr>
              <a:t>has a current professional indemnity cover with Heritage Insurance Company Limited.</a:t>
            </a:r>
          </a:p>
        </p:txBody>
      </p:sp>
      <p:sp>
        <p:nvSpPr>
          <p:cNvPr id="7" name="Rectangle 6">
            <a:extLst>
              <a:ext uri="{FF2B5EF4-FFF2-40B4-BE49-F238E27FC236}">
                <a16:creationId xmlns:a16="http://schemas.microsoft.com/office/drawing/2014/main" id="{A9B6C7CD-957D-A6C0-328D-BEE2FB3D892D}"/>
              </a:ext>
            </a:extLst>
          </p:cNvPr>
          <p:cNvSpPr/>
          <p:nvPr/>
        </p:nvSpPr>
        <p:spPr>
          <a:xfrm>
            <a:off x="1588" y="2795588"/>
            <a:ext cx="9142412" cy="46037"/>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pic>
        <p:nvPicPr>
          <p:cNvPr id="19461" name="logo" descr="http://www.heritageinsurance.co.ke/sites/heritageinsuranc/heritage-logo.png">
            <a:extLst>
              <a:ext uri="{FF2B5EF4-FFF2-40B4-BE49-F238E27FC236}">
                <a16:creationId xmlns:a16="http://schemas.microsoft.com/office/drawing/2014/main" id="{023F660F-474C-B193-F1AC-0E6C7574E3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299075"/>
            <a:ext cx="1900237"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9462" name="Object 1">
            <a:extLst>
              <a:ext uri="{FF2B5EF4-FFF2-40B4-BE49-F238E27FC236}">
                <a16:creationId xmlns:a16="http://schemas.microsoft.com/office/drawing/2014/main" id="{48B8E398-C866-B018-5327-A1ADFF6B965B}"/>
              </a:ext>
            </a:extLst>
          </p:cNvPr>
          <p:cNvGraphicFramePr>
            <a:graphicFrameLocks noChangeAspect="1"/>
          </p:cNvGraphicFramePr>
          <p:nvPr/>
        </p:nvGraphicFramePr>
        <p:xfrm>
          <a:off x="5651500" y="15875"/>
          <a:ext cx="3289300" cy="2620963"/>
        </p:xfrm>
        <a:graphic>
          <a:graphicData uri="http://schemas.openxmlformats.org/presentationml/2006/ole">
            <mc:AlternateContent xmlns:mc="http://schemas.openxmlformats.org/markup-compatibility/2006">
              <mc:Choice xmlns:v="urn:schemas-microsoft-com:vml" Requires="v">
                <p:oleObj name="Acrobat Document" r:id="rId3" imgW="10695600" imgH="7558200" progId="AcroExch.Document.11">
                  <p:embed/>
                </p:oleObj>
              </mc:Choice>
              <mc:Fallback>
                <p:oleObj name="Acrobat Document" r:id="rId3" imgW="10695600" imgH="7558200" progId="AcroExch.Document.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1500" y="15875"/>
                        <a:ext cx="3289300"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F42A7A7E-96D6-9742-4D0C-1D2ED8AFF7D6}"/>
              </a:ext>
            </a:extLst>
          </p:cNvPr>
          <p:cNvSpPr txBox="1">
            <a:spLocks/>
          </p:cNvSpPr>
          <p:nvPr/>
        </p:nvSpPr>
        <p:spPr bwMode="auto">
          <a:xfrm>
            <a:off x="685800" y="3101975"/>
            <a:ext cx="6985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GB" altLang="en-US">
                <a:solidFill>
                  <a:srgbClr val="0070C0"/>
                </a:solidFill>
                <a:latin typeface="Trebuchet MS" panose="020B0603020202020204" pitchFamily="34" charset="0"/>
                <a:cs typeface="Arial" panose="020B0604020202020204" pitchFamily="34" charset="0"/>
              </a:rPr>
              <a:t>Future Outlook</a:t>
            </a:r>
          </a:p>
        </p:txBody>
      </p:sp>
      <p:sp>
        <p:nvSpPr>
          <p:cNvPr id="20483" name="Content Placeholder 2">
            <a:extLst>
              <a:ext uri="{FF2B5EF4-FFF2-40B4-BE49-F238E27FC236}">
                <a16:creationId xmlns:a16="http://schemas.microsoft.com/office/drawing/2014/main" id="{22ABCFA6-D593-50BD-DB5E-254697C56962}"/>
              </a:ext>
            </a:extLst>
          </p:cNvPr>
          <p:cNvSpPr txBox="1">
            <a:spLocks/>
          </p:cNvSpPr>
          <p:nvPr/>
        </p:nvSpPr>
        <p:spPr bwMode="auto">
          <a:xfrm>
            <a:off x="685800" y="3141663"/>
            <a:ext cx="79248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429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150000"/>
              </a:lnSpc>
              <a:spcBef>
                <a:spcPct val="0"/>
              </a:spcBef>
              <a:spcAft>
                <a:spcPts val="1800"/>
              </a:spcAft>
              <a:buFontTx/>
              <a:buNone/>
            </a:pPr>
            <a:endParaRPr lang="en-GB" altLang="en-US" sz="1800">
              <a:latin typeface="Trebuchet MS" panose="020B0603020202020204" pitchFamily="34" charset="0"/>
              <a:cs typeface="Arial" panose="020B0604020202020204" pitchFamily="34" charset="0"/>
            </a:endParaRPr>
          </a:p>
          <a:p>
            <a:pPr eaLnBrk="1" hangingPunct="1">
              <a:lnSpc>
                <a:spcPct val="150000"/>
              </a:lnSpc>
              <a:spcBef>
                <a:spcPct val="0"/>
              </a:spcBef>
              <a:spcAft>
                <a:spcPts val="1800"/>
              </a:spcAft>
              <a:buFontTx/>
              <a:buNone/>
            </a:pPr>
            <a:r>
              <a:rPr lang="en-GB" altLang="en-US" sz="1800">
                <a:latin typeface="Trebuchet MS" panose="020B0603020202020204" pitchFamily="34" charset="0"/>
                <a:cs typeface="Arial" panose="020B0604020202020204" pitchFamily="34" charset="0"/>
              </a:rPr>
              <a:t>The firm has strategically placed itself for the challenges of the future resulting from a liberalised and globalised working environment. The firm is in the process of establishing links with international legal firms and financial advisors particularly those specialising in offshore financing, insurance and re-insurance.</a:t>
            </a:r>
          </a:p>
        </p:txBody>
      </p:sp>
      <p:sp>
        <p:nvSpPr>
          <p:cNvPr id="6" name="Rectangle 5">
            <a:extLst>
              <a:ext uri="{FF2B5EF4-FFF2-40B4-BE49-F238E27FC236}">
                <a16:creationId xmlns:a16="http://schemas.microsoft.com/office/drawing/2014/main" id="{D9DB97AA-52B2-A413-A281-860B3363E2D7}"/>
              </a:ext>
            </a:extLst>
          </p:cNvPr>
          <p:cNvSpPr/>
          <p:nvPr/>
        </p:nvSpPr>
        <p:spPr>
          <a:xfrm>
            <a:off x="1588" y="3055938"/>
            <a:ext cx="9142412" cy="46037"/>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20485" name="Object 1">
            <a:extLst>
              <a:ext uri="{FF2B5EF4-FFF2-40B4-BE49-F238E27FC236}">
                <a16:creationId xmlns:a16="http://schemas.microsoft.com/office/drawing/2014/main" id="{1E9A6624-1A75-0190-97FD-A92A3518B1F9}"/>
              </a:ext>
            </a:extLst>
          </p:cNvPr>
          <p:cNvGraphicFramePr>
            <a:graphicFrameLocks noChangeAspect="1"/>
          </p:cNvGraphicFramePr>
          <p:nvPr/>
        </p:nvGraphicFramePr>
        <p:xfrm>
          <a:off x="6273800" y="136525"/>
          <a:ext cx="2736850" cy="2860675"/>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3800" y="136525"/>
                        <a:ext cx="2736850"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A1A80F52-5472-F72A-1478-C15F3252A362}"/>
              </a:ext>
            </a:extLst>
          </p:cNvPr>
          <p:cNvSpPr txBox="1">
            <a:spLocks/>
          </p:cNvSpPr>
          <p:nvPr/>
        </p:nvSpPr>
        <p:spPr bwMode="auto">
          <a:xfrm>
            <a:off x="214313" y="1714500"/>
            <a:ext cx="6985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4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sz="2400">
                <a:solidFill>
                  <a:srgbClr val="0070C0"/>
                </a:solidFill>
                <a:latin typeface="Trebuchet MS" panose="020B0603020202020204" pitchFamily="34" charset="0"/>
                <a:cs typeface="Arial" panose="020B0604020202020204" pitchFamily="34" charset="0"/>
              </a:rPr>
              <a:t>Our Organizational Framework</a:t>
            </a:r>
          </a:p>
        </p:txBody>
      </p:sp>
      <p:sp>
        <p:nvSpPr>
          <p:cNvPr id="21507" name="Content Placeholder 2">
            <a:extLst>
              <a:ext uri="{FF2B5EF4-FFF2-40B4-BE49-F238E27FC236}">
                <a16:creationId xmlns:a16="http://schemas.microsoft.com/office/drawing/2014/main" id="{C263468C-49C2-54AB-991B-3723690A7CAA}"/>
              </a:ext>
            </a:extLst>
          </p:cNvPr>
          <p:cNvSpPr txBox="1">
            <a:spLocks/>
          </p:cNvSpPr>
          <p:nvPr/>
        </p:nvSpPr>
        <p:spPr bwMode="auto">
          <a:xfrm>
            <a:off x="323850" y="2889250"/>
            <a:ext cx="77724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just" eaLnBrk="1" hangingPunct="1">
              <a:lnSpc>
                <a:spcPct val="150000"/>
              </a:lnSpc>
              <a:spcBef>
                <a:spcPct val="0"/>
              </a:spcBef>
              <a:buFontTx/>
              <a:buNone/>
            </a:pPr>
            <a:endParaRPr lang="en-GB" altLang="en-US" sz="1600">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r>
              <a:rPr lang="en-GB" altLang="en-US" sz="1600">
                <a:latin typeface="Trebuchet MS" panose="020B0603020202020204" pitchFamily="34" charset="0"/>
                <a:cs typeface="Arial" panose="020B0604020202020204" pitchFamily="34" charset="0"/>
              </a:rPr>
              <a:t>The organisational framework of the firm reflects the activities that it undertakes within its mandates and style of management adopted for effective service delivery. The firm consists of a team of talented highly experienced lawyers relying and respecting each other’s skills and work ethics to service clients accounts diligently with integrity and honesty.</a:t>
            </a:r>
          </a:p>
          <a:p>
            <a:pPr algn="just" eaLnBrk="1" hangingPunct="1">
              <a:lnSpc>
                <a:spcPct val="150000"/>
              </a:lnSpc>
              <a:spcBef>
                <a:spcPct val="0"/>
              </a:spcBef>
              <a:buFontTx/>
              <a:buNone/>
            </a:pPr>
            <a:endParaRPr lang="en-GB" altLang="en-US" sz="1600">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r>
              <a:rPr lang="en-GB" altLang="en-US" sz="1600">
                <a:latin typeface="Trebuchet MS" panose="020B0603020202020204" pitchFamily="34" charset="0"/>
                <a:cs typeface="Arial" panose="020B0604020202020204" pitchFamily="34" charset="0"/>
              </a:rPr>
              <a:t>The principal partners are highly experienced advocates with over 60 years of combined legal experience.</a:t>
            </a:r>
            <a:endParaRPr lang="en-US" altLang="en-US" sz="1600">
              <a:latin typeface="Trebuchet MS" panose="020B0603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AE3100F6-F014-BCD9-4D64-04FE29063853}"/>
              </a:ext>
            </a:extLst>
          </p:cNvPr>
          <p:cNvSpPr/>
          <p:nvPr/>
        </p:nvSpPr>
        <p:spPr>
          <a:xfrm>
            <a:off x="9525" y="2476500"/>
            <a:ext cx="9142413" cy="46038"/>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21509" name="Object 1">
            <a:extLst>
              <a:ext uri="{FF2B5EF4-FFF2-40B4-BE49-F238E27FC236}">
                <a16:creationId xmlns:a16="http://schemas.microsoft.com/office/drawing/2014/main" id="{FBAC935C-0D02-CD0B-AE68-C7EE95E6C9DB}"/>
              </a:ext>
            </a:extLst>
          </p:cNvPr>
          <p:cNvGraphicFramePr>
            <a:graphicFrameLocks noChangeAspect="1"/>
          </p:cNvGraphicFramePr>
          <p:nvPr/>
        </p:nvGraphicFramePr>
        <p:xfrm>
          <a:off x="5795963" y="141288"/>
          <a:ext cx="3289300" cy="2335212"/>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963" y="141288"/>
                        <a:ext cx="3289300" cy="233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2">
            <a:extLst>
              <a:ext uri="{FF2B5EF4-FFF2-40B4-BE49-F238E27FC236}">
                <a16:creationId xmlns:a16="http://schemas.microsoft.com/office/drawing/2014/main" id="{AC2F092F-170A-4A64-F33E-D26B29265015}"/>
              </a:ext>
            </a:extLst>
          </p:cNvPr>
          <p:cNvSpPr txBox="1">
            <a:spLocks noChangeArrowheads="1"/>
          </p:cNvSpPr>
          <p:nvPr/>
        </p:nvSpPr>
        <p:spPr bwMode="auto">
          <a:xfrm>
            <a:off x="1393825" y="4005263"/>
            <a:ext cx="6096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3600">
                <a:solidFill>
                  <a:srgbClr val="0070C0"/>
                </a:solidFill>
                <a:latin typeface="Trebuchet MS" panose="020B0603020202020204" pitchFamily="34" charset="0"/>
                <a:cs typeface="Arial" panose="020B0604020202020204" pitchFamily="34" charset="0"/>
              </a:rPr>
              <a:t>Our People</a:t>
            </a:r>
          </a:p>
        </p:txBody>
      </p:sp>
      <p:sp>
        <p:nvSpPr>
          <p:cNvPr id="6" name="Rectangle 5">
            <a:extLst>
              <a:ext uri="{FF2B5EF4-FFF2-40B4-BE49-F238E27FC236}">
                <a16:creationId xmlns:a16="http://schemas.microsoft.com/office/drawing/2014/main" id="{85A207F4-6099-BEBB-54D8-8A9AFA88130F}"/>
              </a:ext>
            </a:extLst>
          </p:cNvPr>
          <p:cNvSpPr/>
          <p:nvPr/>
        </p:nvSpPr>
        <p:spPr>
          <a:xfrm>
            <a:off x="6350" y="3109913"/>
            <a:ext cx="9142413" cy="46037"/>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22532" name="Object 1">
            <a:extLst>
              <a:ext uri="{FF2B5EF4-FFF2-40B4-BE49-F238E27FC236}">
                <a16:creationId xmlns:a16="http://schemas.microsoft.com/office/drawing/2014/main" id="{A5BA32D2-2DE7-1BB6-55D2-E88271A5A3AC}"/>
              </a:ext>
            </a:extLst>
          </p:cNvPr>
          <p:cNvGraphicFramePr>
            <a:graphicFrameLocks noChangeAspect="1"/>
          </p:cNvGraphicFramePr>
          <p:nvPr/>
        </p:nvGraphicFramePr>
        <p:xfrm>
          <a:off x="5724525" y="131763"/>
          <a:ext cx="3289300" cy="2792412"/>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525" y="131763"/>
                        <a:ext cx="3289300" cy="279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7DD38D74-350F-7380-AD58-FB0DC4D7FFEE}"/>
              </a:ext>
            </a:extLst>
          </p:cNvPr>
          <p:cNvSpPr txBox="1">
            <a:spLocks/>
          </p:cNvSpPr>
          <p:nvPr/>
        </p:nvSpPr>
        <p:spPr bwMode="auto">
          <a:xfrm>
            <a:off x="0" y="1160463"/>
            <a:ext cx="5643563"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sz="2800">
                <a:solidFill>
                  <a:srgbClr val="0070C0"/>
                </a:solidFill>
                <a:latin typeface="Trebuchet MS" panose="020B0603020202020204" pitchFamily="34" charset="0"/>
                <a:cs typeface="Arial" panose="020B0604020202020204" pitchFamily="34" charset="0"/>
              </a:rPr>
              <a:t>  Catherine N. Karanja (Mrs)</a:t>
            </a:r>
          </a:p>
        </p:txBody>
      </p:sp>
      <p:sp>
        <p:nvSpPr>
          <p:cNvPr id="23555" name="Content Placeholder 2">
            <a:extLst>
              <a:ext uri="{FF2B5EF4-FFF2-40B4-BE49-F238E27FC236}">
                <a16:creationId xmlns:a16="http://schemas.microsoft.com/office/drawing/2014/main" id="{C975E9D4-4A4D-CB7E-906D-94F39B8A190C}"/>
              </a:ext>
            </a:extLst>
          </p:cNvPr>
          <p:cNvSpPr txBox="1">
            <a:spLocks/>
          </p:cNvSpPr>
          <p:nvPr/>
        </p:nvSpPr>
        <p:spPr bwMode="auto">
          <a:xfrm>
            <a:off x="685800" y="1905000"/>
            <a:ext cx="66040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31800" indent="-4318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80000"/>
              </a:lnSpc>
              <a:spcBef>
                <a:spcPct val="0"/>
              </a:spcBef>
              <a:buFontTx/>
              <a:buNone/>
            </a:pPr>
            <a:endParaRPr lang="en-US" altLang="en-US" sz="2000" i="1">
              <a:latin typeface="Arial" panose="020B0604020202020204" pitchFamily="34" charset="0"/>
              <a:cs typeface="Arial" panose="020B0604020202020204" pitchFamily="34" charset="0"/>
            </a:endParaRPr>
          </a:p>
        </p:txBody>
      </p:sp>
      <p:sp>
        <p:nvSpPr>
          <p:cNvPr id="23556" name="Rectangle 5">
            <a:extLst>
              <a:ext uri="{FF2B5EF4-FFF2-40B4-BE49-F238E27FC236}">
                <a16:creationId xmlns:a16="http://schemas.microsoft.com/office/drawing/2014/main" id="{A8E8B4AC-7879-986B-4894-F17C201BAC69}"/>
              </a:ext>
            </a:extLst>
          </p:cNvPr>
          <p:cNvSpPr>
            <a:spLocks noChangeArrowheads="1"/>
          </p:cNvSpPr>
          <p:nvPr/>
        </p:nvSpPr>
        <p:spPr bwMode="auto">
          <a:xfrm>
            <a:off x="214313" y="1628775"/>
            <a:ext cx="8243887" cy="535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just">
              <a:lnSpc>
                <a:spcPct val="150000"/>
              </a:lnSpc>
              <a:spcBef>
                <a:spcPct val="0"/>
              </a:spcBef>
              <a:buFontTx/>
              <a:buNone/>
            </a:pPr>
            <a:endParaRPr lang="en-GB" altLang="en-US" sz="1600" b="1">
              <a:solidFill>
                <a:srgbClr val="0070C0"/>
              </a:solidFill>
              <a:latin typeface="Trebuchet MS" panose="020B0603020202020204" pitchFamily="34" charset="0"/>
              <a:cs typeface="Arial" panose="020B0604020202020204" pitchFamily="34" charset="0"/>
            </a:endParaRPr>
          </a:p>
          <a:p>
            <a:pPr algn="just">
              <a:lnSpc>
                <a:spcPct val="150000"/>
              </a:lnSpc>
              <a:spcBef>
                <a:spcPct val="0"/>
              </a:spcBef>
              <a:buFontTx/>
              <a:buNone/>
            </a:pPr>
            <a:endParaRPr lang="en-GB" altLang="en-US" sz="1200" b="1">
              <a:solidFill>
                <a:srgbClr val="0070C0"/>
              </a:solidFill>
              <a:latin typeface="Trebuchet MS" panose="020B0603020202020204" pitchFamily="34" charset="0"/>
              <a:cs typeface="Arial" panose="020B0604020202020204" pitchFamily="34" charset="0"/>
            </a:endParaRPr>
          </a:p>
          <a:p>
            <a:pPr algn="just">
              <a:lnSpc>
                <a:spcPct val="150000"/>
              </a:lnSpc>
              <a:spcBef>
                <a:spcPct val="0"/>
              </a:spcBef>
              <a:buFontTx/>
              <a:buNone/>
            </a:pPr>
            <a:endParaRPr lang="en-GB" altLang="en-US" sz="1200" b="1">
              <a:solidFill>
                <a:srgbClr val="0070C0"/>
              </a:solidFill>
              <a:latin typeface="Trebuchet MS" panose="020B0603020202020204" pitchFamily="34" charset="0"/>
              <a:cs typeface="Arial" panose="020B0604020202020204" pitchFamily="34" charset="0"/>
            </a:endParaRPr>
          </a:p>
          <a:p>
            <a:pPr algn="just">
              <a:lnSpc>
                <a:spcPct val="150000"/>
              </a:lnSpc>
              <a:spcBef>
                <a:spcPct val="0"/>
              </a:spcBef>
              <a:buFontTx/>
              <a:buNone/>
            </a:pPr>
            <a:r>
              <a:rPr lang="en-GB" altLang="en-US" sz="1200" b="1">
                <a:solidFill>
                  <a:srgbClr val="0070C0"/>
                </a:solidFill>
                <a:latin typeface="Trebuchet MS" panose="020B0603020202020204" pitchFamily="34" charset="0"/>
                <a:cs typeface="Arial" panose="020B0604020202020204" pitchFamily="34" charset="0"/>
              </a:rPr>
              <a:t>Mrs. Catherine Nyambura Karanja</a:t>
            </a:r>
            <a:r>
              <a:rPr lang="en-GB" altLang="en-US" sz="1200">
                <a:solidFill>
                  <a:srgbClr val="0070C0"/>
                </a:solidFill>
                <a:latin typeface="Trebuchet MS" panose="020B0603020202020204" pitchFamily="34" charset="0"/>
                <a:cs typeface="Arial" panose="020B0604020202020204" pitchFamily="34" charset="0"/>
              </a:rPr>
              <a:t>  </a:t>
            </a:r>
            <a:r>
              <a:rPr lang="en-GB" altLang="en-US" sz="1200">
                <a:solidFill>
                  <a:srgbClr val="000000"/>
                </a:solidFill>
                <a:latin typeface="Trebuchet MS" panose="020B0603020202020204" pitchFamily="34" charset="0"/>
                <a:cs typeface="Arial" panose="020B0604020202020204" pitchFamily="34" charset="0"/>
              </a:rPr>
              <a:t>is the Senior Partner and has over 25 years experience in land registration matters.  She has a wide range  of experience in conveyance, land law, company law and property legal work. </a:t>
            </a:r>
          </a:p>
          <a:p>
            <a:pPr algn="just">
              <a:lnSpc>
                <a:spcPct val="150000"/>
              </a:lnSpc>
              <a:spcBef>
                <a:spcPct val="0"/>
              </a:spcBef>
              <a:buFontTx/>
              <a:buNone/>
            </a:pPr>
            <a:endParaRPr lang="en-GB" altLang="en-US" sz="1200">
              <a:solidFill>
                <a:srgbClr val="000000"/>
              </a:solidFill>
              <a:latin typeface="Trebuchet MS" panose="020B0603020202020204" pitchFamily="34" charset="0"/>
              <a:cs typeface="Arial" panose="020B0604020202020204" pitchFamily="34" charset="0"/>
            </a:endParaRPr>
          </a:p>
          <a:p>
            <a:pPr algn="just">
              <a:lnSpc>
                <a:spcPct val="150000"/>
              </a:lnSpc>
              <a:spcBef>
                <a:spcPct val="0"/>
              </a:spcBef>
              <a:buFontTx/>
              <a:buNone/>
            </a:pPr>
            <a:r>
              <a:rPr lang="en-GB" altLang="en-US" sz="1200">
                <a:solidFill>
                  <a:srgbClr val="000000"/>
                </a:solidFill>
                <a:latin typeface="Trebuchet MS" panose="020B0603020202020204" pitchFamily="34" charset="0"/>
                <a:cs typeface="Arial" panose="020B0604020202020204" pitchFamily="34" charset="0"/>
              </a:rPr>
              <a:t>She was a legal pupil at the firm of Hamilton Harrison &amp; Mathews  Advocates  and thereafter held  a Holding over position for 1 year.</a:t>
            </a:r>
          </a:p>
          <a:p>
            <a:pPr algn="just">
              <a:lnSpc>
                <a:spcPct val="150000"/>
              </a:lnSpc>
              <a:spcBef>
                <a:spcPct val="0"/>
              </a:spcBef>
              <a:buFontTx/>
              <a:buNone/>
            </a:pPr>
            <a:endParaRPr lang="en-GB" altLang="en-US" sz="1200">
              <a:solidFill>
                <a:srgbClr val="000000"/>
              </a:solidFill>
              <a:latin typeface="Trebuchet MS" panose="020B0603020202020204" pitchFamily="34" charset="0"/>
              <a:cs typeface="Arial" panose="020B0604020202020204" pitchFamily="34" charset="0"/>
            </a:endParaRPr>
          </a:p>
          <a:p>
            <a:pPr algn="just">
              <a:lnSpc>
                <a:spcPct val="150000"/>
              </a:lnSpc>
              <a:spcBef>
                <a:spcPct val="0"/>
              </a:spcBef>
              <a:buFontTx/>
              <a:buNone/>
            </a:pPr>
            <a:r>
              <a:rPr lang="en-GB" altLang="en-US" sz="1200">
                <a:solidFill>
                  <a:srgbClr val="000000"/>
                </a:solidFill>
                <a:latin typeface="Trebuchet MS" panose="020B0603020202020204" pitchFamily="34" charset="0"/>
                <a:cs typeface="Arial" panose="020B0604020202020204" pitchFamily="34" charset="0"/>
              </a:rPr>
              <a:t> Catherine has previously been in the Public  Civil  Service  where she worked  for the Government of Kenya  in the Ministry of Lands and Settlement for  16 years  from  1991 to 2007.</a:t>
            </a:r>
          </a:p>
          <a:p>
            <a:pPr algn="just">
              <a:lnSpc>
                <a:spcPct val="150000"/>
              </a:lnSpc>
              <a:spcBef>
                <a:spcPct val="0"/>
              </a:spcBef>
              <a:buFontTx/>
              <a:buNone/>
            </a:pPr>
            <a:endParaRPr lang="en-GB" altLang="en-US" sz="1200">
              <a:solidFill>
                <a:srgbClr val="000000"/>
              </a:solidFill>
              <a:latin typeface="Trebuchet MS" panose="020B0603020202020204" pitchFamily="34" charset="0"/>
              <a:cs typeface="Arial" panose="020B0604020202020204" pitchFamily="34" charset="0"/>
            </a:endParaRPr>
          </a:p>
          <a:p>
            <a:pPr algn="just">
              <a:lnSpc>
                <a:spcPct val="150000"/>
              </a:lnSpc>
              <a:spcBef>
                <a:spcPct val="0"/>
              </a:spcBef>
              <a:buFontTx/>
              <a:buNone/>
            </a:pPr>
            <a:r>
              <a:rPr lang="en-GB" altLang="en-US" sz="1200">
                <a:solidFill>
                  <a:srgbClr val="000000"/>
                </a:solidFill>
                <a:latin typeface="Trebuchet MS" panose="020B0603020202020204" pitchFamily="34" charset="0"/>
                <a:cs typeface="Arial" panose="020B0604020202020204" pitchFamily="34" charset="0"/>
              </a:rPr>
              <a:t>She holds an International Diploma in Land Information Systems from Swedesurvey Sweden.</a:t>
            </a:r>
            <a:endParaRPr lang="en-US" altLang="en-US" sz="1200">
              <a:latin typeface="Trebuchet MS" panose="020B0603020202020204" pitchFamily="34" charset="0"/>
              <a:cs typeface="Arial" panose="020B0604020202020204" pitchFamily="34" charset="0"/>
            </a:endParaRPr>
          </a:p>
          <a:p>
            <a:pPr algn="just">
              <a:lnSpc>
                <a:spcPct val="150000"/>
              </a:lnSpc>
              <a:spcBef>
                <a:spcPct val="0"/>
              </a:spcBef>
              <a:buFontTx/>
              <a:buNone/>
            </a:pPr>
            <a:r>
              <a:rPr lang="en-GB" altLang="en-US" sz="1200">
                <a:solidFill>
                  <a:srgbClr val="000000"/>
                </a:solidFill>
                <a:latin typeface="Trebuchet MS" panose="020B0603020202020204" pitchFamily="34" charset="0"/>
                <a:cs typeface="Arial" panose="020B0604020202020204" pitchFamily="34" charset="0"/>
              </a:rPr>
              <a:t> </a:t>
            </a:r>
            <a:endParaRPr lang="en-US" altLang="en-US" sz="1200">
              <a:latin typeface="Trebuchet MS" panose="020B0603020202020204" pitchFamily="34" charset="0"/>
              <a:cs typeface="Arial" panose="020B0604020202020204" pitchFamily="34" charset="0"/>
            </a:endParaRPr>
          </a:p>
          <a:p>
            <a:pPr algn="just">
              <a:lnSpc>
                <a:spcPct val="150000"/>
              </a:lnSpc>
              <a:spcBef>
                <a:spcPct val="0"/>
              </a:spcBef>
              <a:buFontTx/>
              <a:buNone/>
            </a:pPr>
            <a:r>
              <a:rPr lang="en-GB" altLang="en-US" sz="1200">
                <a:solidFill>
                  <a:srgbClr val="000000"/>
                </a:solidFill>
                <a:latin typeface="Trebuchet MS" panose="020B0603020202020204" pitchFamily="34" charset="0"/>
                <a:cs typeface="Arial" panose="020B0604020202020204" pitchFamily="34" charset="0"/>
              </a:rPr>
              <a:t>She held many positions as a Registrar of Titles/Land Registrar in various sections of the Department of Lands  where she dealt  with Registration  of Land Titles, Grants, Title Deeds, Charges, Leases, Mortgages and all types of documents registered   under  the numerous  Land Acts. She rose to the position of Senior Registrar of Titles in  the Department of Lands. </a:t>
            </a:r>
            <a:endParaRPr lang="en-US" altLang="en-US" sz="1200">
              <a:latin typeface="Trebuchet MS" panose="020B0603020202020204" pitchFamily="34" charset="0"/>
              <a:cs typeface="Arial" panose="020B0604020202020204" pitchFamily="34" charset="0"/>
            </a:endParaRPr>
          </a:p>
          <a:p>
            <a:pPr>
              <a:lnSpc>
                <a:spcPct val="150000"/>
              </a:lnSpc>
              <a:spcBef>
                <a:spcPct val="0"/>
              </a:spcBef>
              <a:buFontTx/>
              <a:buNone/>
            </a:pPr>
            <a:r>
              <a:rPr lang="en-GB" altLang="en-US" sz="1200">
                <a:solidFill>
                  <a:srgbClr val="000000"/>
                </a:solidFill>
                <a:latin typeface="Trebuchet MS" panose="020B0603020202020204" pitchFamily="34" charset="0"/>
                <a:cs typeface="Arial" panose="020B0604020202020204" pitchFamily="34" charset="0"/>
              </a:rPr>
              <a:t> </a:t>
            </a:r>
            <a:endParaRPr lang="en-US" altLang="en-US" sz="1200">
              <a:latin typeface="Trebuchet MS" panose="020B0603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3670065B-BFF7-764C-6A71-B9BA06BA91F2}"/>
              </a:ext>
            </a:extLst>
          </p:cNvPr>
          <p:cNvSpPr/>
          <p:nvPr/>
        </p:nvSpPr>
        <p:spPr>
          <a:xfrm>
            <a:off x="-71438" y="1905000"/>
            <a:ext cx="9142413" cy="46038"/>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23558" name="Object 1">
            <a:extLst>
              <a:ext uri="{FF2B5EF4-FFF2-40B4-BE49-F238E27FC236}">
                <a16:creationId xmlns:a16="http://schemas.microsoft.com/office/drawing/2014/main" id="{ABC797EA-188B-9FAF-824A-1F440BB872A0}"/>
              </a:ext>
            </a:extLst>
          </p:cNvPr>
          <p:cNvGraphicFramePr>
            <a:graphicFrameLocks noChangeAspect="1"/>
          </p:cNvGraphicFramePr>
          <p:nvPr/>
        </p:nvGraphicFramePr>
        <p:xfrm>
          <a:off x="6264275" y="0"/>
          <a:ext cx="2879725" cy="1905000"/>
        </p:xfrm>
        <a:graphic>
          <a:graphicData uri="http://schemas.openxmlformats.org/presentationml/2006/ole">
            <mc:AlternateContent xmlns:mc="http://schemas.openxmlformats.org/markup-compatibility/2006">
              <mc:Choice xmlns:v="urn:schemas-microsoft-com:vml" Requires="v">
                <p:oleObj name="Acrobat Document" r:id="rId3" imgW="10695600" imgH="7558200" progId="AcroExch.Document.11">
                  <p:embed/>
                </p:oleObj>
              </mc:Choice>
              <mc:Fallback>
                <p:oleObj name="Acrobat Document" r:id="rId3" imgW="10695600" imgH="7558200" progId="AcroExch.Document.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4275" y="0"/>
                        <a:ext cx="28797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C80A6AEE-A98A-337A-0FEC-AEBC4E6BA719}"/>
              </a:ext>
            </a:extLst>
          </p:cNvPr>
          <p:cNvSpPr txBox="1">
            <a:spLocks/>
          </p:cNvSpPr>
          <p:nvPr/>
        </p:nvSpPr>
        <p:spPr bwMode="auto">
          <a:xfrm>
            <a:off x="304800" y="1096963"/>
            <a:ext cx="5910263"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8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4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4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4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sz="2400">
                <a:solidFill>
                  <a:srgbClr val="0070C0"/>
                </a:solidFill>
                <a:latin typeface="Trebuchet MS" panose="020B0603020202020204" pitchFamily="34" charset="0"/>
                <a:cs typeface="Arial" panose="020B0604020202020204" pitchFamily="34" charset="0"/>
              </a:rPr>
              <a:t>Catherine Karanja ( Mrs.)</a:t>
            </a:r>
          </a:p>
        </p:txBody>
      </p:sp>
      <p:sp>
        <p:nvSpPr>
          <p:cNvPr id="25603" name="Content Placeholder 2">
            <a:extLst>
              <a:ext uri="{FF2B5EF4-FFF2-40B4-BE49-F238E27FC236}">
                <a16:creationId xmlns:a16="http://schemas.microsoft.com/office/drawing/2014/main" id="{0DDF787D-E40F-32D7-E17D-D6ED2C6E6090}"/>
              </a:ext>
            </a:extLst>
          </p:cNvPr>
          <p:cNvSpPr txBox="1">
            <a:spLocks/>
          </p:cNvSpPr>
          <p:nvPr/>
        </p:nvSpPr>
        <p:spPr bwMode="auto">
          <a:xfrm>
            <a:off x="685800" y="1905000"/>
            <a:ext cx="66040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31800" indent="-4318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lnSpc>
                <a:spcPct val="80000"/>
              </a:lnSpc>
              <a:spcBef>
                <a:spcPct val="0"/>
              </a:spcBef>
              <a:buFontTx/>
              <a:buNone/>
            </a:pPr>
            <a:endParaRPr lang="en-US" altLang="en-US" sz="2000" i="1">
              <a:latin typeface="Arial" panose="020B0604020202020204" pitchFamily="34" charset="0"/>
              <a:cs typeface="Arial" panose="020B0604020202020204" pitchFamily="34" charset="0"/>
            </a:endParaRPr>
          </a:p>
        </p:txBody>
      </p:sp>
      <p:sp>
        <p:nvSpPr>
          <p:cNvPr id="25604" name="Rectangle 5">
            <a:extLst>
              <a:ext uri="{FF2B5EF4-FFF2-40B4-BE49-F238E27FC236}">
                <a16:creationId xmlns:a16="http://schemas.microsoft.com/office/drawing/2014/main" id="{49344C21-404E-E885-3784-FC7CBDEFC9D7}"/>
              </a:ext>
            </a:extLst>
          </p:cNvPr>
          <p:cNvSpPr>
            <a:spLocks noChangeArrowheads="1"/>
          </p:cNvSpPr>
          <p:nvPr/>
        </p:nvSpPr>
        <p:spPr bwMode="auto">
          <a:xfrm>
            <a:off x="304800" y="2057400"/>
            <a:ext cx="81724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just">
              <a:lnSpc>
                <a:spcPct val="150000"/>
              </a:lnSpc>
              <a:spcBef>
                <a:spcPct val="0"/>
              </a:spcBef>
              <a:buFontTx/>
              <a:buNone/>
            </a:pPr>
            <a:endParaRPr lang="en-GB" altLang="en-US" sz="1200">
              <a:solidFill>
                <a:srgbClr val="000000"/>
              </a:solidFill>
              <a:latin typeface="Trebuchet MS" panose="020B0603020202020204" pitchFamily="34" charset="0"/>
              <a:cs typeface="Arial" panose="020B0604020202020204" pitchFamily="34" charset="0"/>
            </a:endParaRPr>
          </a:p>
          <a:p>
            <a:pPr algn="just">
              <a:lnSpc>
                <a:spcPct val="150000"/>
              </a:lnSpc>
              <a:spcBef>
                <a:spcPct val="0"/>
              </a:spcBef>
              <a:buFontTx/>
              <a:buNone/>
            </a:pPr>
            <a:endParaRPr lang="en-GB" altLang="en-US" sz="1200">
              <a:solidFill>
                <a:srgbClr val="000000"/>
              </a:solidFill>
              <a:latin typeface="Trebuchet MS" panose="020B0603020202020204" pitchFamily="34" charset="0"/>
              <a:cs typeface="Arial" panose="020B0604020202020204" pitchFamily="34" charset="0"/>
            </a:endParaRPr>
          </a:p>
          <a:p>
            <a:pPr algn="just">
              <a:lnSpc>
                <a:spcPct val="150000"/>
              </a:lnSpc>
              <a:spcBef>
                <a:spcPct val="0"/>
              </a:spcBef>
              <a:buFontTx/>
              <a:buNone/>
            </a:pPr>
            <a:r>
              <a:rPr lang="en-GB" altLang="en-US" sz="1200">
                <a:solidFill>
                  <a:srgbClr val="000000"/>
                </a:solidFill>
                <a:latin typeface="Trebuchet MS" panose="020B0603020202020204" pitchFamily="34" charset="0"/>
                <a:cs typeface="Arial" panose="020B0604020202020204" pitchFamily="34" charset="0"/>
              </a:rPr>
              <a:t>Has a wide experience on the operation of the numerous  Land Acts namely:- The New Land Acts now being; Land Registration act No. 3 of 2012; the Land Act No. 6 of 2012;  and the Repealed Acts  namely:  RLA Cap 300 Registered Land Act (Now Repealed), GLA Cap 280  Government Lands Act (Now Repealed), RTA Cap 281  Registration of Titles Act Land Titles Act (LTA) Cap 282 (now Repealed), Sectional Properties Act, Stamp Duty Act, Land Adjudication Act, The Land Control Act Cap 302, The Trustees (Perpetual Succession) Act (Cap164),The Registration of Documents Act (Cap 285),The Land Disputes Tribunal (Act No. 18 of  1990). She has been a Collector of Stamp Duty and has wide experience in assessment of  stamp duty in all  legal documents  that attract  stamp duty. She has also  undertaken duties  as an Estate Manager in the Adjudication and Settlement Department in the Ministry of Lands &amp; Settlement  where she was  charged with duties of preparing Discharge of Charge  Documents, transfer of land and charges for settlers under the settlement schemes on behalf of the Settlement  Fund Trustees.  She also held the position of Senior Legal Officer – Settlement Fund Trustees. </a:t>
            </a:r>
            <a:endParaRPr lang="en-US" altLang="en-US" sz="1200">
              <a:latin typeface="Trebuchet MS" panose="020B0603020202020204" pitchFamily="34" charset="0"/>
              <a:cs typeface="Arial" panose="020B0604020202020204" pitchFamily="34" charset="0"/>
            </a:endParaRPr>
          </a:p>
          <a:p>
            <a:pPr algn="just">
              <a:spcBef>
                <a:spcPct val="0"/>
              </a:spcBef>
              <a:buFontTx/>
              <a:buNone/>
            </a:pPr>
            <a:endParaRPr lang="en-US" altLang="en-US" sz="1200">
              <a:solidFill>
                <a:srgbClr val="000000"/>
              </a:solidFill>
              <a:latin typeface="Trebuchet MS" panose="020B0603020202020204" pitchFamily="34" charset="0"/>
              <a:cs typeface="Arial" panose="020B0604020202020204" pitchFamily="34" charset="0"/>
            </a:endParaRPr>
          </a:p>
          <a:p>
            <a:pPr algn="just">
              <a:spcBef>
                <a:spcPct val="0"/>
              </a:spcBef>
              <a:buFontTx/>
              <a:buNone/>
            </a:pPr>
            <a:r>
              <a:rPr lang="en-US" altLang="en-US" sz="1200">
                <a:solidFill>
                  <a:srgbClr val="000000"/>
                </a:solidFill>
                <a:latin typeface="Trebuchet MS" panose="020B0603020202020204" pitchFamily="34" charset="0"/>
                <a:cs typeface="Arial" panose="020B0604020202020204" pitchFamily="34" charset="0"/>
              </a:rPr>
              <a:t>Before  forming </a:t>
            </a:r>
            <a:r>
              <a:rPr lang="en-US" altLang="en-US" sz="1200">
                <a:solidFill>
                  <a:srgbClr val="0070C0"/>
                </a:solidFill>
                <a:latin typeface="Trebuchet MS" panose="020B0603020202020204" pitchFamily="34" charset="0"/>
                <a:cs typeface="Arial" panose="020B0604020202020204" pitchFamily="34" charset="0"/>
              </a:rPr>
              <a:t>C.N. Karanja &amp; Associates Advocates</a:t>
            </a:r>
            <a:r>
              <a:rPr lang="en-US" altLang="en-US" sz="1200">
                <a:solidFill>
                  <a:srgbClr val="000000"/>
                </a:solidFill>
                <a:latin typeface="Trebuchet MS" panose="020B0603020202020204" pitchFamily="34" charset="0"/>
                <a:cs typeface="Arial" panose="020B0604020202020204" pitchFamily="34" charset="0"/>
              </a:rPr>
              <a:t>, she was the Managing Partner at Kagwe Kamau &amp; Karanja Advocates for over 10 years.</a:t>
            </a:r>
          </a:p>
          <a:p>
            <a:pPr algn="just">
              <a:spcBef>
                <a:spcPct val="0"/>
              </a:spcBef>
              <a:buFontTx/>
              <a:buNone/>
            </a:pPr>
            <a:endParaRPr lang="en-US" altLang="en-US" sz="1200">
              <a:solidFill>
                <a:srgbClr val="000000"/>
              </a:solidFill>
              <a:latin typeface="Trebuchet MS" panose="020B0603020202020204" pitchFamily="34" charset="0"/>
              <a:cs typeface="Arial" panose="020B0604020202020204" pitchFamily="34" charset="0"/>
            </a:endParaRPr>
          </a:p>
          <a:p>
            <a:pPr algn="just">
              <a:spcBef>
                <a:spcPct val="0"/>
              </a:spcBef>
              <a:buFontTx/>
              <a:buNone/>
            </a:pPr>
            <a:r>
              <a:rPr lang="en-US" altLang="en-US" sz="1200">
                <a:solidFill>
                  <a:srgbClr val="000000"/>
                </a:solidFill>
                <a:latin typeface="Trebuchet MS" panose="020B0603020202020204" pitchFamily="34" charset="0"/>
                <a:cs typeface="Arial" panose="020B0604020202020204" pitchFamily="34" charset="0"/>
              </a:rPr>
              <a:t>Catherine  holds an LLB (Hons)  Degree from the University of Nairobi, Diploma in Advocacy from Kenya School of Law (KSL) and an International Diploma in Land Information Systems from Sweden.</a:t>
            </a:r>
            <a:r>
              <a:rPr lang="en-US" altLang="en-US" sz="1200">
                <a:solidFill>
                  <a:srgbClr val="000000"/>
                </a:solidFill>
                <a:latin typeface="Arial" panose="020B0604020202020204" pitchFamily="34" charset="0"/>
                <a:cs typeface="Arial" panose="020B0604020202020204" pitchFamily="34" charset="0"/>
              </a:rPr>
              <a:t> </a:t>
            </a:r>
            <a:endParaRPr lang="en-US" altLang="en-US" sz="120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D4B28745-CE11-28BF-A082-40562514CF79}"/>
              </a:ext>
            </a:extLst>
          </p:cNvPr>
          <p:cNvSpPr/>
          <p:nvPr/>
        </p:nvSpPr>
        <p:spPr>
          <a:xfrm>
            <a:off x="20638" y="2276475"/>
            <a:ext cx="9142412" cy="46038"/>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25606" name="Object 1">
            <a:extLst>
              <a:ext uri="{FF2B5EF4-FFF2-40B4-BE49-F238E27FC236}">
                <a16:creationId xmlns:a16="http://schemas.microsoft.com/office/drawing/2014/main" id="{77C0A4FD-9E36-2A52-4CDF-767EE85BBF4C}"/>
              </a:ext>
            </a:extLst>
          </p:cNvPr>
          <p:cNvGraphicFramePr>
            <a:graphicFrameLocks noChangeAspect="1"/>
          </p:cNvGraphicFramePr>
          <p:nvPr/>
        </p:nvGraphicFramePr>
        <p:xfrm>
          <a:off x="6248400" y="100013"/>
          <a:ext cx="2749550" cy="2176462"/>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00013"/>
                        <a:ext cx="2749550" cy="217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C9E21B70-C10B-1AA5-91D8-ED506C4879D8}"/>
              </a:ext>
            </a:extLst>
          </p:cNvPr>
          <p:cNvSpPr>
            <a:spLocks noGrp="1"/>
          </p:cNvSpPr>
          <p:nvPr>
            <p:ph type="title"/>
          </p:nvPr>
        </p:nvSpPr>
        <p:spPr>
          <a:xfrm>
            <a:off x="163513" y="1273175"/>
            <a:ext cx="3400425" cy="1143000"/>
          </a:xfrm>
        </p:spPr>
        <p:txBody>
          <a:bodyPr/>
          <a:lstStyle/>
          <a:p>
            <a:br>
              <a:rPr lang="en-US" altLang="en-US" sz="2800">
                <a:solidFill>
                  <a:srgbClr val="0070C0"/>
                </a:solidFill>
                <a:ea typeface="ＭＳ Ｐゴシック" panose="020B0600070205080204" pitchFamily="34" charset="-128"/>
              </a:rPr>
            </a:br>
            <a:br>
              <a:rPr lang="en-US" altLang="en-US" sz="2800">
                <a:solidFill>
                  <a:srgbClr val="0070C0"/>
                </a:solidFill>
                <a:ea typeface="ＭＳ Ｐゴシック" panose="020B0600070205080204" pitchFamily="34" charset="-128"/>
              </a:rPr>
            </a:br>
            <a:br>
              <a:rPr lang="en-US" altLang="en-US" sz="2800">
                <a:solidFill>
                  <a:srgbClr val="0070C0"/>
                </a:solidFill>
                <a:ea typeface="ＭＳ Ｐゴシック" panose="020B0600070205080204" pitchFamily="34" charset="-128"/>
              </a:rPr>
            </a:br>
            <a:br>
              <a:rPr lang="en-US" altLang="en-US" sz="2800">
                <a:solidFill>
                  <a:srgbClr val="0070C0"/>
                </a:solidFill>
                <a:ea typeface="ＭＳ Ｐゴシック" panose="020B0600070205080204" pitchFamily="34" charset="-128"/>
              </a:rPr>
            </a:br>
            <a:r>
              <a:rPr lang="en-US" altLang="en-US" sz="2800">
                <a:solidFill>
                  <a:srgbClr val="0070C0"/>
                </a:solidFill>
                <a:ea typeface="ＭＳ Ｐゴシック" panose="020B0600070205080204" pitchFamily="34" charset="-128"/>
              </a:rPr>
              <a:t>Associates</a:t>
            </a:r>
          </a:p>
        </p:txBody>
      </p:sp>
      <p:sp>
        <p:nvSpPr>
          <p:cNvPr id="26627" name="Content Placeholder 2">
            <a:extLst>
              <a:ext uri="{FF2B5EF4-FFF2-40B4-BE49-F238E27FC236}">
                <a16:creationId xmlns:a16="http://schemas.microsoft.com/office/drawing/2014/main" id="{4F58C14E-97B3-0758-6AA0-B5581B610B96}"/>
              </a:ext>
            </a:extLst>
          </p:cNvPr>
          <p:cNvSpPr>
            <a:spLocks noGrp="1"/>
          </p:cNvSpPr>
          <p:nvPr>
            <p:ph idx="1"/>
          </p:nvPr>
        </p:nvSpPr>
        <p:spPr>
          <a:xfrm>
            <a:off x="455613" y="3357563"/>
            <a:ext cx="8229600" cy="4525962"/>
          </a:xfrm>
        </p:spPr>
        <p:txBody>
          <a:bodyPr/>
          <a:lstStyle/>
          <a:p>
            <a:pPr algn="just"/>
            <a:r>
              <a:rPr lang="en-GB" altLang="en-US" sz="1600" b="1">
                <a:solidFill>
                  <a:srgbClr val="0070C0"/>
                </a:solidFill>
                <a:latin typeface="Trebuchet MS" panose="020B0603020202020204" pitchFamily="34" charset="0"/>
                <a:ea typeface="ＭＳ Ｐゴシック" panose="020B0600070205080204" pitchFamily="34" charset="-128"/>
              </a:rPr>
              <a:t>Mr. MARVIN MUCHERU MWIRIKIA:  </a:t>
            </a:r>
            <a:r>
              <a:rPr lang="en-GB" altLang="en-US" sz="1600">
                <a:solidFill>
                  <a:srgbClr val="0070C0"/>
                </a:solidFill>
                <a:latin typeface="Trebuchet MS" panose="020B0603020202020204" pitchFamily="34" charset="0"/>
                <a:ea typeface="ＭＳ Ｐゴシック" panose="020B0600070205080204" pitchFamily="34" charset="-128"/>
              </a:rPr>
              <a:t> </a:t>
            </a:r>
          </a:p>
          <a:p>
            <a:pPr algn="just">
              <a:buFont typeface="Arial" panose="020B0604020202020204" pitchFamily="34" charset="0"/>
              <a:buNone/>
            </a:pPr>
            <a:r>
              <a:rPr lang="en-GB" altLang="en-US" sz="1400">
                <a:latin typeface="Trebuchet MS" panose="020B0603020202020204" pitchFamily="34" charset="0"/>
                <a:ea typeface="ＭＳ Ｐゴシック" panose="020B0600070205080204" pitchFamily="34" charset="-128"/>
              </a:rPr>
              <a:t>      </a:t>
            </a:r>
          </a:p>
          <a:p>
            <a:pPr algn="just">
              <a:buFont typeface="Arial" panose="020B0604020202020204" pitchFamily="34" charset="0"/>
              <a:buNone/>
            </a:pPr>
            <a:r>
              <a:rPr lang="en-GB" altLang="en-US" sz="1400">
                <a:latin typeface="Trebuchet MS" panose="020B0603020202020204" pitchFamily="34" charset="0"/>
                <a:ea typeface="ＭＳ Ｐゴシック" panose="020B0600070205080204" pitchFamily="34" charset="-128"/>
              </a:rPr>
              <a:t>	</a:t>
            </a:r>
            <a:r>
              <a:rPr lang="en-GB" altLang="en-US" sz="1200">
                <a:latin typeface="Trebuchet MS" panose="020B0603020202020204" pitchFamily="34" charset="0"/>
                <a:ea typeface="ＭＳ Ｐゴシック" panose="020B0600070205080204" pitchFamily="34" charset="-128"/>
              </a:rPr>
              <a:t>He</a:t>
            </a:r>
            <a:r>
              <a:rPr lang="en-GB" altLang="en-US" sz="1200">
                <a:solidFill>
                  <a:srgbClr val="0070C0"/>
                </a:solidFill>
                <a:latin typeface="Trebuchet MS" panose="020B0603020202020204" pitchFamily="34" charset="0"/>
                <a:ea typeface="ＭＳ Ｐゴシック" panose="020B0600070205080204" pitchFamily="34" charset="-128"/>
              </a:rPr>
              <a:t> </a:t>
            </a:r>
            <a:r>
              <a:rPr lang="en-GB" altLang="en-US" sz="1200">
                <a:latin typeface="Trebuchet MS" panose="020B0603020202020204" pitchFamily="34" charset="0"/>
                <a:ea typeface="ＭＳ Ｐゴシック" panose="020B0600070205080204" pitchFamily="34" charset="-128"/>
              </a:rPr>
              <a:t>is an associate in the firm with 1 year Post-Admission experience  in legal practice.  He has wide experience in, Conveyance,  Civil Litigation,  Probate &amp; Succession Law,  Debt Collection, Commercial Law, Company law, Intellectual Property Law and Employment Labour Law.</a:t>
            </a:r>
          </a:p>
          <a:p>
            <a:pPr algn="just">
              <a:buFont typeface="Arial" panose="020B0604020202020204" pitchFamily="34" charset="0"/>
              <a:buNone/>
            </a:pPr>
            <a:endParaRPr lang="en-US" altLang="en-US" sz="1200" b="1">
              <a:latin typeface="Trebuchet MS" panose="020B0603020202020204" pitchFamily="34" charset="0"/>
              <a:ea typeface="ＭＳ Ｐゴシック" panose="020B0600070205080204" pitchFamily="34" charset="-128"/>
            </a:endParaRPr>
          </a:p>
          <a:p>
            <a:pPr lvl="1" algn="just"/>
            <a:r>
              <a:rPr lang="en-GB" altLang="en-US" sz="1200">
                <a:latin typeface="Trebuchet MS" panose="020B0603020202020204" pitchFamily="34" charset="0"/>
                <a:ea typeface="ＭＳ Ｐゴシック" panose="020B0600070205080204" pitchFamily="34" charset="-128"/>
              </a:rPr>
              <a:t>He was a legal pupil in  this firm  for 1 year and also held a holding over position for 2 years.</a:t>
            </a:r>
            <a:endParaRPr lang="en-US" altLang="en-US" sz="1200" b="1">
              <a:latin typeface="Trebuchet MS" panose="020B0603020202020204" pitchFamily="34" charset="0"/>
              <a:ea typeface="ＭＳ Ｐゴシック" panose="020B0600070205080204" pitchFamily="34" charset="-128"/>
            </a:endParaRPr>
          </a:p>
          <a:p>
            <a:pPr algn="just">
              <a:buFont typeface="Arial" panose="020B0604020202020204" pitchFamily="34" charset="0"/>
              <a:buNone/>
            </a:pPr>
            <a:r>
              <a:rPr lang="en-GB" altLang="en-US" sz="1200">
                <a:latin typeface="Trebuchet MS" panose="020B0603020202020204" pitchFamily="34" charset="0"/>
                <a:ea typeface="ＭＳ Ｐゴシック" panose="020B0600070205080204" pitchFamily="34" charset="-128"/>
              </a:rPr>
              <a:t> </a:t>
            </a:r>
            <a:endParaRPr lang="en-US" altLang="en-US" sz="1200" b="1">
              <a:latin typeface="Trebuchet MS" panose="020B0603020202020204" pitchFamily="34" charset="0"/>
              <a:ea typeface="ＭＳ Ｐゴシック" panose="020B0600070205080204" pitchFamily="34" charset="-128"/>
            </a:endParaRPr>
          </a:p>
          <a:p>
            <a:pPr algn="just"/>
            <a:r>
              <a:rPr lang="en-US" altLang="en-US" sz="1200">
                <a:latin typeface="Trebuchet MS" panose="020B0603020202020204" pitchFamily="34" charset="0"/>
                <a:ea typeface="ＭＳ Ｐゴシック" panose="020B0600070205080204" pitchFamily="34" charset="-128"/>
              </a:rPr>
              <a:t>Marvin holds LLB. (Hons) from  Mount Kenya  University (MKU) and a Diploma in Advocacy from the Kenya School of  Law (KSL) .</a:t>
            </a:r>
          </a:p>
          <a:p>
            <a:endParaRPr lang="en-US" altLang="en-US">
              <a:ea typeface="ＭＳ Ｐゴシック" panose="020B0600070205080204" pitchFamily="34" charset="-128"/>
            </a:endParaRPr>
          </a:p>
        </p:txBody>
      </p:sp>
      <p:sp>
        <p:nvSpPr>
          <p:cNvPr id="5" name="Rectangle 4">
            <a:extLst>
              <a:ext uri="{FF2B5EF4-FFF2-40B4-BE49-F238E27FC236}">
                <a16:creationId xmlns:a16="http://schemas.microsoft.com/office/drawing/2014/main" id="{D9D3C5FC-CBCE-36F2-F11A-82C4A6ACF9A3}"/>
              </a:ext>
            </a:extLst>
          </p:cNvPr>
          <p:cNvSpPr/>
          <p:nvPr/>
        </p:nvSpPr>
        <p:spPr>
          <a:xfrm>
            <a:off x="23813" y="2368550"/>
            <a:ext cx="9142412" cy="46038"/>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graphicFrame>
        <p:nvGraphicFramePr>
          <p:cNvPr id="26629" name="Object 1">
            <a:extLst>
              <a:ext uri="{FF2B5EF4-FFF2-40B4-BE49-F238E27FC236}">
                <a16:creationId xmlns:a16="http://schemas.microsoft.com/office/drawing/2014/main" id="{72B2CD6F-25BD-82C8-BFD1-76049B7B4788}"/>
              </a:ext>
            </a:extLst>
          </p:cNvPr>
          <p:cNvGraphicFramePr>
            <a:graphicFrameLocks noChangeAspect="1"/>
          </p:cNvGraphicFramePr>
          <p:nvPr/>
        </p:nvGraphicFramePr>
        <p:xfrm>
          <a:off x="6084888" y="260350"/>
          <a:ext cx="2879725" cy="2016125"/>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888" y="260350"/>
                        <a:ext cx="28797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CE29785-9E33-D8E1-6512-063FBC21E0E3}"/>
              </a:ext>
            </a:extLst>
          </p:cNvPr>
          <p:cNvSpPr txBox="1">
            <a:spLocks/>
          </p:cNvSpPr>
          <p:nvPr/>
        </p:nvSpPr>
        <p:spPr bwMode="auto">
          <a:xfrm>
            <a:off x="533400" y="304800"/>
            <a:ext cx="6985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a:solidFill>
                <a:srgbClr val="ACC42A"/>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ACC42A"/>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ACC42A"/>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ACC42A"/>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a:solidFill>
                <a:srgbClr val="ACC42A"/>
              </a:solidFill>
              <a:latin typeface="Trebuchet MS" panose="020B0603020202020204" pitchFamily="34" charset="0"/>
              <a:cs typeface="Arial" panose="020B0604020202020204" pitchFamily="34" charset="0"/>
            </a:endParaRPr>
          </a:p>
        </p:txBody>
      </p:sp>
      <p:sp>
        <p:nvSpPr>
          <p:cNvPr id="27651" name="Content Placeholder 2">
            <a:extLst>
              <a:ext uri="{FF2B5EF4-FFF2-40B4-BE49-F238E27FC236}">
                <a16:creationId xmlns:a16="http://schemas.microsoft.com/office/drawing/2014/main" id="{E6D8F26B-B205-8914-693C-86678CC722DE}"/>
              </a:ext>
            </a:extLst>
          </p:cNvPr>
          <p:cNvSpPr txBox="1">
            <a:spLocks/>
          </p:cNvSpPr>
          <p:nvPr/>
        </p:nvSpPr>
        <p:spPr bwMode="auto">
          <a:xfrm>
            <a:off x="357188" y="1484313"/>
            <a:ext cx="8001000"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just" eaLnBrk="1" hangingPunct="1">
              <a:lnSpc>
                <a:spcPct val="150000"/>
              </a:lnSpc>
              <a:spcBef>
                <a:spcPct val="0"/>
              </a:spcBef>
              <a:buFontTx/>
              <a:buNone/>
            </a:pPr>
            <a:endParaRPr lang="en-US" altLang="en-US" sz="1400" b="1">
              <a:solidFill>
                <a:srgbClr val="B2C23C"/>
              </a:solidFill>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endParaRPr lang="en-US" altLang="en-US" sz="1400" b="1">
              <a:solidFill>
                <a:srgbClr val="B2C23C"/>
              </a:solidFill>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endParaRPr lang="en-US" altLang="en-US" sz="1400" b="1">
              <a:solidFill>
                <a:srgbClr val="B2C23C"/>
              </a:solidFill>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r>
              <a:rPr lang="en-US" altLang="en-US" sz="1100" b="1">
                <a:solidFill>
                  <a:srgbClr val="0070C0"/>
                </a:solidFill>
                <a:latin typeface="Trebuchet MS" panose="020B0603020202020204" pitchFamily="34" charset="0"/>
                <a:cs typeface="Arial" panose="020B0604020202020204" pitchFamily="34" charset="0"/>
              </a:rPr>
              <a:t>Mary Veronica Wanjiku</a:t>
            </a:r>
            <a:r>
              <a:rPr lang="en-US" altLang="en-US" sz="1100" b="1">
                <a:solidFill>
                  <a:srgbClr val="B2C23C"/>
                </a:solidFill>
                <a:latin typeface="Trebuchet MS" panose="020B0603020202020204" pitchFamily="34" charset="0"/>
                <a:cs typeface="Arial" panose="020B0604020202020204" pitchFamily="34" charset="0"/>
              </a:rPr>
              <a:t>:  </a:t>
            </a:r>
            <a:r>
              <a:rPr lang="en-US" altLang="en-US" sz="1100">
                <a:latin typeface="Trebuchet MS" panose="020B0603020202020204" pitchFamily="34" charset="0"/>
                <a:cs typeface="Arial" panose="020B0604020202020204" pitchFamily="34" charset="0"/>
              </a:rPr>
              <a:t>She is a Legal secretary/Office Administration Manager. Before Joining C.N. Karanja &amp; Associates Advocates, She worked as a Legal Executive secretary at the Principal Registrar of Titles/Chief Land Registrar in the Ministry of Lands and Settlement,  Kagwe &amp;  Company Advocates and Kagwe Kamau &amp; Karanja Advocates.   She is the executive legal secretary  with a wide experience in Conveyance and Land matters  of over 30 years.</a:t>
            </a:r>
          </a:p>
          <a:p>
            <a:pPr algn="just" eaLnBrk="1" hangingPunct="1">
              <a:lnSpc>
                <a:spcPct val="150000"/>
              </a:lnSpc>
              <a:spcBef>
                <a:spcPct val="0"/>
              </a:spcBef>
              <a:buFontTx/>
              <a:buNone/>
            </a:pPr>
            <a:endParaRPr lang="en-US" altLang="en-US" sz="1100" b="1">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r>
              <a:rPr lang="en-GB" altLang="en-US" sz="1100" b="1">
                <a:solidFill>
                  <a:srgbClr val="0070C0"/>
                </a:solidFill>
                <a:latin typeface="Trebuchet MS" panose="020B0603020202020204" pitchFamily="34" charset="0"/>
                <a:cs typeface="Arial" panose="020B0604020202020204" pitchFamily="34" charset="0"/>
              </a:rPr>
              <a:t>Ann Wanjiku: </a:t>
            </a:r>
            <a:r>
              <a:rPr lang="en-GB" altLang="en-US" sz="1100">
                <a:latin typeface="Trebuchet MS" panose="020B0603020202020204" pitchFamily="34" charset="0"/>
                <a:cs typeface="Arial" panose="020B0604020202020204" pitchFamily="34" charset="0"/>
              </a:rPr>
              <a:t>Ann is a Legal Secretary/Administration Assistant in Litigation, Commercial Department.  She worked as a secretary in various firms giving her a wide range of experience in handling different types of jobs. Before joining C.N. Karanja &amp; Associates Advocates  she worked for Kagwe, Kamau &amp; Karanja Advocates,  Kithimba Associates, a Consulting Engineers Firm, Nyakio General Constructors, a civil engineering firm and Sheth and Wathigo Advocates. She is a trained secretary and is computer literate.</a:t>
            </a:r>
          </a:p>
          <a:p>
            <a:pPr algn="just" eaLnBrk="1" hangingPunct="1">
              <a:lnSpc>
                <a:spcPct val="150000"/>
              </a:lnSpc>
              <a:spcBef>
                <a:spcPct val="0"/>
              </a:spcBef>
              <a:buFontTx/>
              <a:buNone/>
            </a:pPr>
            <a:endParaRPr lang="en-GB" altLang="en-US" sz="1100">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r>
              <a:rPr lang="en-US" altLang="en-US" sz="1100" b="1">
                <a:solidFill>
                  <a:srgbClr val="0070C0"/>
                </a:solidFill>
                <a:latin typeface="Trebuchet MS" panose="020B0603020202020204" pitchFamily="34" charset="0"/>
                <a:cs typeface="Arial" panose="020B0604020202020204" pitchFamily="34" charset="0"/>
              </a:rPr>
              <a:t>Lawrence Mungai: </a:t>
            </a:r>
            <a:r>
              <a:rPr lang="en-US" altLang="en-US" sz="1100">
                <a:latin typeface="Trebuchet MS" panose="020B0603020202020204" pitchFamily="34" charset="0"/>
                <a:cs typeface="Arial" panose="020B0604020202020204" pitchFamily="34" charset="0"/>
              </a:rPr>
              <a:t>He is  the Firm’s Accountant.  He has a wide experience in accounting and auditing.  Before joining C.N. Karanja &amp; Associates Advocates he worked for Bata Shoe Company as an Accounts Clerk, and for   Kagwe Kamau &amp; Karanja Advocates  as an Accountant/Conveyancing  Clerk,  giving him a wide experience in his work.</a:t>
            </a:r>
          </a:p>
          <a:p>
            <a:pPr algn="just" eaLnBrk="1" hangingPunct="1">
              <a:lnSpc>
                <a:spcPct val="150000"/>
              </a:lnSpc>
              <a:spcBef>
                <a:spcPct val="0"/>
              </a:spcBef>
              <a:buFontTx/>
              <a:buNone/>
            </a:pPr>
            <a:endParaRPr lang="en-US" altLang="en-US" sz="1100">
              <a:latin typeface="Trebuchet MS" panose="020B0603020202020204" pitchFamily="34" charset="0"/>
              <a:cs typeface="Arial" panose="020B0604020202020204" pitchFamily="34" charset="0"/>
            </a:endParaRPr>
          </a:p>
          <a:p>
            <a:pPr algn="just" eaLnBrk="1" hangingPunct="1">
              <a:lnSpc>
                <a:spcPct val="150000"/>
              </a:lnSpc>
              <a:spcBef>
                <a:spcPct val="0"/>
              </a:spcBef>
              <a:buFont typeface="Arial" panose="020B0604020202020204" pitchFamily="34" charset="0"/>
              <a:buNone/>
            </a:pPr>
            <a:r>
              <a:rPr lang="en-GB" altLang="en-US" sz="1200" b="1">
                <a:solidFill>
                  <a:srgbClr val="0070C0"/>
                </a:solidFill>
                <a:latin typeface="Trebuchet MS" panose="020B0603020202020204" pitchFamily="34" charset="0"/>
                <a:cs typeface="Arial" panose="020B0604020202020204" pitchFamily="34" charset="0"/>
              </a:rPr>
              <a:t>Sarah Muigai</a:t>
            </a:r>
            <a:r>
              <a:rPr lang="en-GB" altLang="en-US" sz="1200">
                <a:solidFill>
                  <a:srgbClr val="0070C0"/>
                </a:solidFill>
                <a:latin typeface="Trebuchet MS" panose="020B0603020202020204" pitchFamily="34" charset="0"/>
                <a:cs typeface="Arial" panose="020B0604020202020204" pitchFamily="34" charset="0"/>
              </a:rPr>
              <a:t>:  </a:t>
            </a:r>
            <a:r>
              <a:rPr lang="en-GB" altLang="en-US" sz="1100">
                <a:latin typeface="Trebuchet MS" panose="020B0603020202020204" pitchFamily="34" charset="0"/>
                <a:cs typeface="Arial" panose="020B0604020202020204" pitchFamily="34" charset="0"/>
              </a:rPr>
              <a:t>Sarah  is  an office assistant.  Before joining C.N. Karanja &amp; Associates Advocates, she worked  for  Segani Home Cleaning Services and  Kagwe, Kamau &amp; Karanja Advocates.</a:t>
            </a:r>
            <a:endParaRPr lang="en-US" altLang="en-US" sz="1100">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endParaRPr lang="en-US" altLang="en-US" sz="1100">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endParaRPr lang="en-GB" altLang="en-US" sz="1400">
              <a:latin typeface="Trebuchet MS" panose="020B0603020202020204" pitchFamily="34" charset="0"/>
              <a:cs typeface="Arial" panose="020B0604020202020204" pitchFamily="34" charset="0"/>
            </a:endParaRPr>
          </a:p>
          <a:p>
            <a:pPr algn="just" eaLnBrk="1" hangingPunct="1">
              <a:lnSpc>
                <a:spcPct val="150000"/>
              </a:lnSpc>
              <a:spcBef>
                <a:spcPct val="0"/>
              </a:spcBef>
              <a:buFontTx/>
              <a:buNone/>
            </a:pPr>
            <a:endParaRPr lang="en-GB" altLang="en-US" sz="1400">
              <a:latin typeface="Trebuchet MS" panose="020B0603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541BDD97-5737-224C-E131-F923E5B71A95}"/>
              </a:ext>
            </a:extLst>
          </p:cNvPr>
          <p:cNvSpPr/>
          <p:nvPr/>
        </p:nvSpPr>
        <p:spPr>
          <a:xfrm>
            <a:off x="206375" y="1989138"/>
            <a:ext cx="8928100" cy="46037"/>
          </a:xfrm>
          <a:prstGeom prst="rect">
            <a:avLst/>
          </a:prstGeom>
          <a:solidFill>
            <a:srgbClr val="B4298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solidFill>
                <a:schemeClr val="tx1"/>
              </a:solidFill>
            </a:endParaRPr>
          </a:p>
        </p:txBody>
      </p:sp>
      <p:sp>
        <p:nvSpPr>
          <p:cNvPr id="27653" name="Rectangle 5">
            <a:extLst>
              <a:ext uri="{FF2B5EF4-FFF2-40B4-BE49-F238E27FC236}">
                <a16:creationId xmlns:a16="http://schemas.microsoft.com/office/drawing/2014/main" id="{024C5C68-6520-32CA-C790-1FF85FC5D721}"/>
              </a:ext>
            </a:extLst>
          </p:cNvPr>
          <p:cNvSpPr>
            <a:spLocks noChangeArrowheads="1"/>
          </p:cNvSpPr>
          <p:nvPr/>
        </p:nvSpPr>
        <p:spPr bwMode="auto">
          <a:xfrm>
            <a:off x="357188" y="1382713"/>
            <a:ext cx="32146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GB" altLang="en-US" sz="24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endParaRPr lang="en-GB" altLang="en-US" sz="2400">
              <a:solidFill>
                <a:srgbClr val="0070C0"/>
              </a:solidFill>
              <a:latin typeface="Trebuchet MS" panose="020B0603020202020204" pitchFamily="34" charset="0"/>
              <a:cs typeface="Arial" panose="020B0604020202020204" pitchFamily="34" charset="0"/>
            </a:endParaRPr>
          </a:p>
          <a:p>
            <a:pPr eaLnBrk="1" hangingPunct="1">
              <a:spcBef>
                <a:spcPct val="0"/>
              </a:spcBef>
              <a:buFontTx/>
              <a:buNone/>
            </a:pPr>
            <a:r>
              <a:rPr lang="en-GB" altLang="en-US" sz="2400">
                <a:solidFill>
                  <a:srgbClr val="0070C0"/>
                </a:solidFill>
                <a:latin typeface="Trebuchet MS" panose="020B0603020202020204" pitchFamily="34" charset="0"/>
                <a:cs typeface="Arial" panose="020B0604020202020204" pitchFamily="34" charset="0"/>
              </a:rPr>
              <a:t>Staff</a:t>
            </a:r>
          </a:p>
        </p:txBody>
      </p:sp>
      <p:graphicFrame>
        <p:nvGraphicFramePr>
          <p:cNvPr id="27654" name="Object 1">
            <a:extLst>
              <a:ext uri="{FF2B5EF4-FFF2-40B4-BE49-F238E27FC236}">
                <a16:creationId xmlns:a16="http://schemas.microsoft.com/office/drawing/2014/main" id="{68B1B1A6-07F4-0084-8F2A-D38E0C9309E9}"/>
              </a:ext>
            </a:extLst>
          </p:cNvPr>
          <p:cNvGraphicFramePr>
            <a:graphicFrameLocks noChangeAspect="1"/>
          </p:cNvGraphicFramePr>
          <p:nvPr/>
        </p:nvGraphicFramePr>
        <p:xfrm>
          <a:off x="6372225" y="39688"/>
          <a:ext cx="2663825" cy="1943100"/>
        </p:xfrm>
        <a:graphic>
          <a:graphicData uri="http://schemas.openxmlformats.org/presentationml/2006/ole">
            <mc:AlternateContent xmlns:mc="http://schemas.openxmlformats.org/markup-compatibility/2006">
              <mc:Choice xmlns:v="urn:schemas-microsoft-com:vml" Requires="v">
                <p:oleObj name="Acrobat Document" r:id="rId2" imgW="10695600" imgH="7558200" progId="AcroExch.Document.11">
                  <p:embed/>
                </p:oleObj>
              </mc:Choice>
              <mc:Fallback>
                <p:oleObj name="Acrobat Document" r:id="rId2" imgW="10695600" imgH="7558200" progId="AcroExch.Document.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25" y="39688"/>
                        <a:ext cx="266382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D8269557-10F4-9F00-A147-5521F72C9C5D}"/>
              </a:ext>
            </a:extLst>
          </p:cNvPr>
          <p:cNvSpPr>
            <a:spLocks noGrp="1"/>
          </p:cNvSpPr>
          <p:nvPr>
            <p:ph idx="1"/>
          </p:nvPr>
        </p:nvSpPr>
        <p:spPr>
          <a:xfrm>
            <a:off x="2268538" y="6326188"/>
            <a:ext cx="6289675" cy="493712"/>
          </a:xfrm>
        </p:spPr>
        <p:txBody>
          <a:bodyPr/>
          <a:lstStyle/>
          <a:p>
            <a:pPr>
              <a:buFont typeface="Arial" panose="020B0604020202020204" pitchFamily="34" charset="0"/>
              <a:buNone/>
            </a:pPr>
            <a:r>
              <a:rPr lang="en-US" altLang="en-US">
                <a:ea typeface="ＭＳ Ｐゴシック" panose="020B0600070205080204" pitchFamily="34" charset="-128"/>
              </a:rPr>
              <a:t>                                           </a:t>
            </a:r>
            <a:r>
              <a:rPr lang="en-US" altLang="en-US" sz="2800" i="1">
                <a:latin typeface="Trebuchet MS" panose="020B0603020202020204" pitchFamily="34" charset="0"/>
                <a:ea typeface="ＭＳ Ｐゴシック" panose="020B0600070205080204" pitchFamily="34" charset="-128"/>
              </a:rPr>
              <a:t>THANK YOU</a:t>
            </a:r>
            <a:endParaRPr lang="en-US" altLang="en-US" sz="2800" i="1">
              <a:solidFill>
                <a:srgbClr val="00B0F0"/>
              </a:solidFill>
              <a:latin typeface="Trebuchet MS" panose="020B0603020202020204" pitchFamily="34" charset="0"/>
              <a:ea typeface="ＭＳ Ｐゴシック" panose="020B0600070205080204" pitchFamily="34" charset="-128"/>
            </a:endParaRPr>
          </a:p>
          <a:p>
            <a:pPr>
              <a:buFont typeface="Arial" panose="020B0604020202020204" pitchFamily="34" charset="0"/>
              <a:buNone/>
            </a:pPr>
            <a:endParaRPr lang="en-US" altLang="en-US" sz="1100" b="1" i="1">
              <a:solidFill>
                <a:srgbClr val="00B0F0"/>
              </a:solidFill>
              <a:ea typeface="ＭＳ Ｐゴシック" panose="020B0600070205080204" pitchFamily="34" charset="-128"/>
            </a:endParaRPr>
          </a:p>
          <a:p>
            <a:pPr>
              <a:buFont typeface="Arial" panose="020B0604020202020204" pitchFamily="34" charset="0"/>
              <a:buNone/>
            </a:pPr>
            <a:endParaRPr lang="en-US" altLang="en-US" sz="1100" b="1" i="1">
              <a:solidFill>
                <a:srgbClr val="00B0F0"/>
              </a:solidFill>
              <a:ea typeface="ＭＳ Ｐゴシック" panose="020B0600070205080204" pitchFamily="34" charset="-128"/>
            </a:endParaRPr>
          </a:p>
          <a:p>
            <a:pPr>
              <a:buFont typeface="Arial" panose="020B0604020202020204" pitchFamily="34" charset="0"/>
              <a:buNone/>
            </a:pPr>
            <a:endParaRPr lang="en-US" altLang="en-US" sz="1100" b="1" i="1">
              <a:solidFill>
                <a:srgbClr val="00B0F0"/>
              </a:solidFill>
              <a:ea typeface="ＭＳ Ｐゴシック" panose="020B0600070205080204" pitchFamily="34" charset="-128"/>
            </a:endParaRPr>
          </a:p>
          <a:p>
            <a:pPr>
              <a:buFont typeface="Arial" panose="020B0604020202020204" pitchFamily="34" charset="0"/>
              <a:buNone/>
            </a:pPr>
            <a:endParaRPr lang="en-US" altLang="en-US" sz="1100" b="1" i="1">
              <a:solidFill>
                <a:srgbClr val="00B0F0"/>
              </a:solidFill>
              <a:ea typeface="ＭＳ Ｐゴシック" panose="020B0600070205080204" pitchFamily="34" charset="-128"/>
            </a:endParaRPr>
          </a:p>
          <a:p>
            <a:pPr>
              <a:buFont typeface="Arial" panose="020B0604020202020204" pitchFamily="34" charset="0"/>
              <a:buNone/>
            </a:pPr>
            <a:endParaRPr lang="en-US" altLang="en-US" sz="1100" b="1" i="1">
              <a:solidFill>
                <a:srgbClr val="00B0F0"/>
              </a:solidFill>
              <a:ea typeface="ＭＳ Ｐゴシック" panose="020B0600070205080204" pitchFamily="34" charset="-128"/>
            </a:endParaRPr>
          </a:p>
          <a:p>
            <a:pPr>
              <a:buFont typeface="Arial" panose="020B0604020202020204" pitchFamily="34" charset="0"/>
              <a:buNone/>
            </a:pPr>
            <a:endParaRPr lang="en-US" altLang="en-US" sz="1100" b="1" i="1">
              <a:solidFill>
                <a:srgbClr val="00B0F0"/>
              </a:solidFill>
              <a:ea typeface="ＭＳ Ｐゴシック" panose="020B0600070205080204" pitchFamily="34" charset="-128"/>
            </a:endParaRPr>
          </a:p>
          <a:p>
            <a:pPr>
              <a:buFont typeface="Arial" panose="020B0604020202020204" pitchFamily="34" charset="0"/>
              <a:buNone/>
            </a:pPr>
            <a:endParaRPr lang="en-US" altLang="en-US" sz="1100" b="1" i="1">
              <a:solidFill>
                <a:srgbClr val="00B0F0"/>
              </a:solidFill>
              <a:ea typeface="ＭＳ Ｐゴシック" panose="020B0600070205080204" pitchFamily="34" charset="-128"/>
            </a:endParaRPr>
          </a:p>
          <a:p>
            <a:endParaRPr lang="en-US" altLang="en-US" sz="1200">
              <a:ea typeface="ＭＳ Ｐゴシック" panose="020B0600070205080204" pitchFamily="34" charset="-128"/>
            </a:endParaRPr>
          </a:p>
          <a:p>
            <a:endParaRPr lang="en-US" altLang="en-US" sz="1200">
              <a:ea typeface="ＭＳ Ｐゴシック" panose="020B0600070205080204" pitchFamily="34" charset="-128"/>
            </a:endParaRPr>
          </a:p>
          <a:p>
            <a:endParaRPr lang="en-US" altLang="en-US">
              <a:ea typeface="ＭＳ Ｐゴシック" panose="020B0600070205080204" pitchFamily="34" charset="-128"/>
            </a:endParaRPr>
          </a:p>
        </p:txBody>
      </p:sp>
      <p:graphicFrame>
        <p:nvGraphicFramePr>
          <p:cNvPr id="28675" name="Object 2">
            <a:extLst>
              <a:ext uri="{FF2B5EF4-FFF2-40B4-BE49-F238E27FC236}">
                <a16:creationId xmlns:a16="http://schemas.microsoft.com/office/drawing/2014/main" id="{F4BBA7F8-D1CE-1DB8-E51E-A3AC664C4CA9}"/>
              </a:ext>
            </a:extLst>
          </p:cNvPr>
          <p:cNvGraphicFramePr>
            <a:graphicFrameLocks noChangeAspect="1"/>
          </p:cNvGraphicFramePr>
          <p:nvPr/>
        </p:nvGraphicFramePr>
        <p:xfrm>
          <a:off x="1908175" y="476250"/>
          <a:ext cx="6013450" cy="4087813"/>
        </p:xfrm>
        <a:graphic>
          <a:graphicData uri="http://schemas.openxmlformats.org/presentationml/2006/ole">
            <mc:AlternateContent xmlns:mc="http://schemas.openxmlformats.org/markup-compatibility/2006">
              <mc:Choice xmlns:v="urn:schemas-microsoft-com:vml" Requires="v">
                <p:oleObj name="Acrobat Document" r:id="rId3" imgW="10695600" imgH="7558200" progId="AcroExch.Document.11">
                  <p:embed/>
                </p:oleObj>
              </mc:Choice>
              <mc:Fallback>
                <p:oleObj name="Acrobat Document" r:id="rId3" imgW="10695600" imgH="7558200" progId="AcroExch.Document.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476250"/>
                        <a:ext cx="6013450" cy="408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6" name="TextBox 6">
            <a:extLst>
              <a:ext uri="{FF2B5EF4-FFF2-40B4-BE49-F238E27FC236}">
                <a16:creationId xmlns:a16="http://schemas.microsoft.com/office/drawing/2014/main" id="{AC4A0C0A-6F31-966A-6447-B7FFE45F6AFA}"/>
              </a:ext>
            </a:extLst>
          </p:cNvPr>
          <p:cNvSpPr txBox="1">
            <a:spLocks noChangeArrowheads="1"/>
          </p:cNvSpPr>
          <p:nvPr/>
        </p:nvSpPr>
        <p:spPr bwMode="auto">
          <a:xfrm>
            <a:off x="228600" y="5373688"/>
            <a:ext cx="2247900" cy="127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100" b="1" i="1">
                <a:solidFill>
                  <a:srgbClr val="00B0F0"/>
                </a:solidFill>
                <a:latin typeface="Times New Roman" panose="02020603050405020304" pitchFamily="18" charset="0"/>
                <a:cs typeface="Times New Roman" panose="02020603050405020304" pitchFamily="18" charset="0"/>
              </a:rPr>
              <a:t>Western Heights, 2</a:t>
            </a:r>
            <a:r>
              <a:rPr lang="en-US" altLang="en-US" sz="1100" b="1" i="1" baseline="30000">
                <a:solidFill>
                  <a:srgbClr val="00B0F0"/>
                </a:solidFill>
                <a:latin typeface="Times New Roman" panose="02020603050405020304" pitchFamily="18" charset="0"/>
                <a:cs typeface="Times New Roman" panose="02020603050405020304" pitchFamily="18" charset="0"/>
              </a:rPr>
              <a:t>nd</a:t>
            </a:r>
            <a:r>
              <a:rPr lang="en-US" altLang="en-US" sz="1100" b="1" i="1">
                <a:solidFill>
                  <a:srgbClr val="00B0F0"/>
                </a:solidFill>
                <a:latin typeface="Times New Roman" panose="02020603050405020304" pitchFamily="18" charset="0"/>
                <a:cs typeface="Times New Roman" panose="02020603050405020304" pitchFamily="18" charset="0"/>
              </a:rPr>
              <a:t> floor, Suite 11</a:t>
            </a:r>
          </a:p>
          <a:p>
            <a:pPr eaLnBrk="1" hangingPunct="1">
              <a:spcBef>
                <a:spcPct val="0"/>
              </a:spcBef>
              <a:buFontTx/>
              <a:buNone/>
            </a:pPr>
            <a:r>
              <a:rPr lang="en-US" altLang="en-US" sz="1100" b="1" i="1">
                <a:solidFill>
                  <a:srgbClr val="00B0F0"/>
                </a:solidFill>
                <a:latin typeface="Times New Roman" panose="02020603050405020304" pitchFamily="18" charset="0"/>
                <a:cs typeface="Times New Roman" panose="02020603050405020304" pitchFamily="18" charset="0"/>
              </a:rPr>
              <a:t>Karuna Road, Next  to Sarit Centre</a:t>
            </a:r>
          </a:p>
          <a:p>
            <a:pPr eaLnBrk="1" hangingPunct="1">
              <a:spcBef>
                <a:spcPct val="0"/>
              </a:spcBef>
              <a:buFontTx/>
              <a:buNone/>
            </a:pPr>
            <a:r>
              <a:rPr lang="en-US" altLang="en-US" sz="1100" b="1" i="1">
                <a:solidFill>
                  <a:srgbClr val="00B0F0"/>
                </a:solidFill>
                <a:latin typeface="Times New Roman" panose="02020603050405020304" pitchFamily="18" charset="0"/>
                <a:cs typeface="Times New Roman" panose="02020603050405020304" pitchFamily="18" charset="0"/>
              </a:rPr>
              <a:t>Westlands</a:t>
            </a:r>
          </a:p>
          <a:p>
            <a:pPr eaLnBrk="1" hangingPunct="1">
              <a:spcBef>
                <a:spcPct val="0"/>
              </a:spcBef>
              <a:buFontTx/>
              <a:buNone/>
            </a:pPr>
            <a:r>
              <a:rPr lang="en-US" altLang="en-US" sz="1100" b="1" i="1">
                <a:solidFill>
                  <a:srgbClr val="00B0F0"/>
                </a:solidFill>
                <a:latin typeface="Times New Roman" panose="02020603050405020304" pitchFamily="18" charset="0"/>
                <a:cs typeface="Times New Roman" panose="02020603050405020304" pitchFamily="18" charset="0"/>
              </a:rPr>
              <a:t>P.O. Box 2318-00606</a:t>
            </a:r>
          </a:p>
          <a:p>
            <a:pPr eaLnBrk="1" hangingPunct="1">
              <a:spcBef>
                <a:spcPct val="0"/>
              </a:spcBef>
              <a:buFontTx/>
              <a:buNone/>
            </a:pPr>
            <a:r>
              <a:rPr lang="en-US" altLang="en-US" sz="1100" b="1" i="1">
                <a:solidFill>
                  <a:srgbClr val="00B0F0"/>
                </a:solidFill>
                <a:latin typeface="Times New Roman" panose="02020603050405020304" pitchFamily="18" charset="0"/>
                <a:cs typeface="Times New Roman" panose="02020603050405020304" pitchFamily="18" charset="0"/>
              </a:rPr>
              <a:t>NAIROBI </a:t>
            </a:r>
          </a:p>
          <a:p>
            <a:pPr eaLnBrk="1" hangingPunct="1">
              <a:spcBef>
                <a:spcPct val="0"/>
              </a:spcBef>
              <a:buFontTx/>
              <a:buNone/>
            </a:pPr>
            <a:r>
              <a:rPr lang="en-US" altLang="en-US" sz="1100" b="1" i="1">
                <a:solidFill>
                  <a:srgbClr val="00B0F0"/>
                </a:solidFill>
                <a:latin typeface="Times New Roman" panose="02020603050405020304" pitchFamily="18" charset="0"/>
                <a:cs typeface="Times New Roman" panose="02020603050405020304" pitchFamily="18" charset="0"/>
              </a:rPr>
              <a:t>Tel:  0727770668,  0729651125</a:t>
            </a:r>
          </a:p>
          <a:p>
            <a:pPr eaLnBrk="1" hangingPunct="1">
              <a:spcBef>
                <a:spcPct val="0"/>
              </a:spcBef>
              <a:buFontTx/>
              <a:buNone/>
            </a:pPr>
            <a:r>
              <a:rPr lang="en-US" altLang="en-US" sz="1100" b="1" i="1">
                <a:solidFill>
                  <a:srgbClr val="00B0F0"/>
                </a:solidFill>
                <a:latin typeface="Times New Roman" panose="02020603050405020304" pitchFamily="18" charset="0"/>
                <a:cs typeface="Times New Roman" panose="02020603050405020304" pitchFamily="18" charset="0"/>
              </a:rPr>
              <a:t>Email: wakili@cnklaw.co.k</a:t>
            </a:r>
            <a:r>
              <a:rPr lang="en-US" altLang="en-US" sz="1000" b="1" i="1">
                <a:solidFill>
                  <a:srgbClr val="00B0F0"/>
                </a:solidFill>
                <a:latin typeface="Times New Roman" panose="02020603050405020304" pitchFamily="18" charset="0"/>
                <a:cs typeface="Times New Roman" panose="02020603050405020304" pitchFamily="18" charset="0"/>
              </a:rPr>
              <a:t>e</a:t>
            </a:r>
          </a:p>
        </p:txBody>
      </p:sp>
    </p:spTree>
  </p:cSld>
  <p:clrMapOvr>
    <a:masterClrMapping/>
  </p:clrMapOvr>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5938</TotalTime>
  <Words>1785</Words>
  <Application>Microsoft Office PowerPoint</Application>
  <PresentationFormat>On-screen Show (4:3)</PresentationFormat>
  <Paragraphs>240</Paragraphs>
  <Slides>24</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2" baseType="lpstr">
      <vt:lpstr>Arial</vt:lpstr>
      <vt:lpstr>ＭＳ Ｐゴシック</vt:lpstr>
      <vt:lpstr>Calibri</vt:lpstr>
      <vt:lpstr>Trebuchet MS</vt:lpstr>
      <vt:lpstr>Myriad Roman</vt:lpstr>
      <vt:lpstr>Times New Roman</vt:lpstr>
      <vt:lpstr>Office Theme</vt:lpstr>
      <vt:lpstr>Adobe Acrobat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Corporate Clients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Associates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Studio</dc:creator>
  <cp:lastModifiedBy>Lewis Githinji</cp:lastModifiedBy>
  <cp:revision>293</cp:revision>
  <cp:lastPrinted>2021-07-27T09:28:06Z</cp:lastPrinted>
  <dcterms:created xsi:type="dcterms:W3CDTF">2011-11-16T14:25:12Z</dcterms:created>
  <dcterms:modified xsi:type="dcterms:W3CDTF">2026-02-13T10:55:05Z</dcterms:modified>
</cp:coreProperties>
</file>